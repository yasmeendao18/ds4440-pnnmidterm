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League Spartan" charset="1" panose="00000800000000000000"/>
      <p:regular r:id="rId37"/>
    </p:embeddedFont>
    <p:embeddedFont>
      <p:font typeface="Codec Pro" charset="1" panose="00000500000000000000"/>
      <p:regular r:id="rId38"/>
    </p:embeddedFont>
    <p:embeddedFont>
      <p:font typeface="Codec Pro Bold" charset="1" panose="0000060000000000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fonts/font43.fntdata" Type="http://schemas.openxmlformats.org/officeDocument/2006/relationships/font"/><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Our project was on classifying neurodegenerative diseases by Lubaina, Yining, Yasmeen, and Willem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project we aimed to perform muliclass classification on MRI scans of patients with healthy brains and patients with Alzheimer's and Parkinson's. We wanted to identify which areas of the brain have characteristics associated with certain neurodegenerative diseases, hoping to answer questions like do multiple diseases exhibit in similar locations in the brain and do certain regions of the brain or shape of it correlate to the diseases.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chose to use two datasets for this project. The first was a Kaggle dataset that had MRI scans of patients with Alzheimer's, Parkinson's, and normal brains.</a:t>
            </a:r>
          </a:p>
          <a:p>
            <a:r>
              <a:rPr lang="en-US"/>
              <a:t>The second dataset we had was from Huggingface and this one only had Alzheimer's with labels 0-3 ranking the level of the disease. We had to relabel these when we combined the two datasets.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plotted a class distribution bar chart for the combined dataset and saw that Parkinson's had significantly less data than Alzheimers which is due to the second dataset being Alzheimers and normal only which you can see on the bottom left. And on the bottom right are sample images from all three classes.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While working with this data we faced several limitations. First of all, medical datasets are often restricted due to privacy concerns and regulatory limitations. Also, MRi scans from different machines, hospitals, and protocols lead to inconsistencies within the data. And finally, the high resolution MRI images required significant memory and processing power.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preprocessing, both datasets had to be converted to 2D numpy arrays first. While the Kaggle dataset has image files, the huggingface has images in binary format so we had to convert those to images first. Next, we resized all of the images to be 128x128. Additionally, we had to relabel the huggingface data since that had ratings 0-3 for severity. We also removed faulty images and normalized the pixel values.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During our experimentation we realized that our data was unbalanced and we decided we wanted our model to be more generalizable. After we has already trained some models with the original dataset, we created a second dataset with augmented data, meaning that during training, we randomly flip and rotate the images and oversample Parkinson's images because there are less data points for that. For the purpose of clarity, we will refer to the different datasets as original and augmented.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started with a feedforward neural network due to its simplicity. It provides a solid starting point before experimenting with more complex architectures and serves as a baseline model for performance comparison. Additionally, it is computationally efficient, allowing for faster training compared to convolutional neural networks. We also used cross entropy loss for all of our models because it's good for multi-class classification, we used adam optimizer because it's pretty standard and good, and our outputs use softmax.</a:t>
            </a:r>
          </a:p>
          <a:p>
            <a:r>
              <a:rPr lang="en-US"/>
              <a:t/>
            </a:r>
          </a:p>
          <a:p>
            <a:r>
              <a:rPr lang="en-US"/>
              <a:t>Our architecture takes in 128x128 flattened MRI images as input. </a:t>
            </a:r>
          </a:p>
          <a:p>
            <a:r>
              <a:rPr lang="en-US"/>
              <a:t/>
            </a:r>
          </a:p>
          <a:p>
            <a:r>
              <a:rPr lang="en-US"/>
              <a:t>The architecture details are listed below, but we are a bit short on time:</a:t>
            </a:r>
          </a:p>
          <a:p>
            <a:r>
              <a:rPr lang="en-US"/>
              <a:t/>
            </a:r>
          </a:p>
          <a:p>
            <a:r>
              <a:rPr lang="en-US"/>
              <a:t>It consists of three hidden layers: the first with 512 neurons, followed by 256 and 128 neurons, all using ReLU activation. The output layer is a fully connected layer with a softmax activation function for multi-class classification.</a:t>
            </a:r>
          </a:p>
          <a:p>
            <a:r>
              <a:rPr lang="en-US"/>
              <a:t/>
            </a:r>
          </a:p>
          <a:p>
            <a:r>
              <a:rPr lang="en-US"/>
              <a:t>To optimize training, we used cross-entropy loss, which is well-suited for multi-class problems. We also applied the Adam optimizer with a learning rate of 0.001—an effective choice for medical imaging tasks, especially when dealing with imbalanced datasets.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trained our feed forward network on the original dataset, achieving an accuracy of 92.03% with a loss of 0.1961.</a:t>
            </a:r>
          </a:p>
          <a:p>
            <a:r>
              <a:rPr lang="en-US"/>
              <a:t/>
            </a:r>
          </a:p>
          <a:p>
            <a:r>
              <a:rPr lang="en-US"/>
              <a:t>Looking at the TensorBoard visualization with PCA, we can see clear patterns in how the model classified different conditions. Parkinson’s cases (pink) were well-separated, though a few were close to the normal and Alzheimer’s clusters. Normal (red) and Alzheimer’s (blue) showed some overlap, but the majority of cases were separated.</a:t>
            </a:r>
          </a:p>
          <a:p>
            <a:r>
              <a:rPr lang="en-US"/>
              <a:t>____________________________________</a:t>
            </a:r>
          </a:p>
          <a:p>
            <a:r>
              <a:rPr lang="en-US"/>
              <a:t/>
            </a:r>
          </a:p>
          <a:p>
            <a:r>
              <a:rPr lang="en-US"/>
              <a:t>This analysis highlights both the model's strengths and areas for improvement, particularly in distinguishing between normal and Alzheimer’s cases."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we wanted to iterate on the feed forward network so we trained it on the augmented data, same architecture and everything. We were able to get 77% accuracy after 50 epochs, and we can see that it was very good at predicting parkinsons, which might mean that the parkinsons data was starkly different.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wanted to squeeze a little better performance out of our feed forward model, so we added another hidden layer at the start and batch normalization and dropout between layers, and this was able to achieve 82% accuracy after 50 epochs. This performed much better at predicting normal and alzheimers, but performed slightly worse than the last iteration at parkinsons.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next for our experimentation we wanted to try CNNs because they are well known for working well on images, and is even used on MRI image analysis a lot now.</a:t>
            </a:r>
          </a:p>
          <a:p>
            <a:r>
              <a:rPr lang="en-US"/>
              <a:t>The details of the architecture are listed below, but we have 3 layers of convolutions and we have one fully connected layer.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with this model on the original data we were able to achieve 98% accuracy. We can see here in PCA that the last layer embeddings showed great clustering. Then we got inspired and though exploring kernel visualizations would be cool, but they were 3x3 so it didn't tell us much.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then we thought if we can make huge kernels, could we see some patterns? So we trained our first CNN again except switched out the first kernels to be 31x31, and we visualized them and applied smoothing to make it more interpretable. We were able to see that filter 3 looked kinda brainy?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for our second CNN model we trained our first CNN on the augmented data, same architecture. This achieved 90% accuracy after 30 epochs. This did much better than the feed forward on the augmented data.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jsut taking a look at the last layer embeddings we were able to easily cluster parkinsons, but there was a bit of trouble differentiating normal and alzheimers. I think we're learning parkinsos data isn't great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we wanted to take our CNN even further, sow e took that second CNN and added an additional convolutional layer, batch normalization, another hidden layer, and dropout. After 100 epochs it reached 80% accuracy. This didn't feel great so we didn't want to go down this route.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we decided to go back to our second CNN and fine tune it, so we turned down the learning rate to e^-4 instead of e^-3, and we got 94% accuracy after 50 more epochs of training. This was the best result we were able to get! THe embeddings look pretty clustered, and it rarely ever mispredicts alzheimers and normal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were curious after the CNN model 2 training on augmented data how a pre-trained model would compare as it has faster convergence/feature extraction and easier to train to find general patterns</a:t>
            </a:r>
          </a:p>
          <a:p>
            <a:r>
              <a:rPr lang="en-US"/>
              <a:t/>
            </a:r>
          </a:p>
          <a:p>
            <a:r>
              <a:rPr lang="en-US"/>
              <a:t>We used ResNet18, for it's lighter architecture 64 filters, residual blocks, fully connected layer as the final output.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results, model performed 83%. </a:t>
            </a:r>
          </a:p>
          <a:p>
            <a:r>
              <a:rPr lang="en-US"/>
              <a:t>Model often misclassifies Alzheimer’s and Normal MRI scans. Similar brain images</a:t>
            </a:r>
          </a:p>
          <a:p>
            <a:r>
              <a:rPr lang="en-US"/>
              <a:t>Parkinson’s was rarely misclassified.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Gradient-Weighted Class Activation Mapping </a:t>
            </a:r>
          </a:p>
          <a:p>
            <a:r>
              <a:rPr lang="en-US"/>
              <a:t/>
            </a:r>
          </a:p>
          <a:p>
            <a:r>
              <a:rPr lang="en-US"/>
              <a:t>We found it difficult to fully understand/visualize what the surface level numeric values told us so decided to implement Grad-CAM. Interested in understanding which part of the brain contributed to the model’s classification of the disease. </a:t>
            </a:r>
          </a:p>
          <a:p>
            <a:r>
              <a:rPr lang="en-US"/>
              <a:t/>
            </a:r>
          </a:p>
          <a:p>
            <a:r>
              <a:rPr lang="en-US"/>
              <a:t>To implement we used the CNN Model 2 with the augmented data because it best classified the data without imbalance. We used the activations from last convolutional layer </a:t>
            </a:r>
          </a:p>
          <a:p>
            <a:r>
              <a:rPr lang="en-US"/>
              <a:t>because it contains representation of the most complex features the model learned to classify.                                                                     </a:t>
            </a:r>
          </a:p>
          <a:p>
            <a:r>
              <a:rPr lang="en-US"/>
              <a:t>Then take the Weighted Sum of the Feature maps to produce the heatmap(activation map). Use ReLU activation to remove negative values to ensure only + contributing regions are shown</a:t>
            </a:r>
          </a:p>
          <a:p>
            <a:r>
              <a:rPr lang="en-US"/>
              <a:t/>
            </a:r>
          </a:p>
          <a:p>
            <a:r>
              <a:rPr lang="en-US"/>
              <a:t>Overlay the heatmap onto input image to visualize important regions shown in image to the right.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results we displayed the CNN 1 model with the original data on the left and the CNN2 with the augmented to showcase the difference in performance. </a:t>
            </a:r>
          </a:p>
          <a:p>
            <a:r>
              <a:rPr lang="en-US"/>
              <a:t/>
            </a:r>
          </a:p>
          <a:p>
            <a:r>
              <a:rPr lang="en-US"/>
              <a:t>Red /yellow show high importance in determining classification. </a:t>
            </a:r>
          </a:p>
          <a:p>
            <a:r>
              <a:rPr lang="en-US"/>
              <a:t>Blue is lower importance. It's important to note that while the Normal category may have highlighted regions, this does not necessarily indicate the presence of disease. The highlighted areas simply show where the model is focusing to make its classification. </a:t>
            </a:r>
          </a:p>
          <a:p>
            <a:r>
              <a:rPr lang="en-US"/>
              <a:t/>
            </a:r>
          </a:p>
          <a:p>
            <a:r>
              <a:rPr lang="en-US"/>
              <a:t>Overall shows Model 2 has more detailed and specific highlighted regions of the MRI scan. </a:t>
            </a:r>
          </a:p>
          <a:p>
            <a:r>
              <a:rPr lang="en-US"/>
              <a:t/>
            </a:r>
          </a:p>
          <a:p>
            <a:r>
              <a:rPr lang="en-US"/>
              <a:t>Interestingly, we observed that the highlighted regions may align with scientifically known areas affected by these diseases, though we are not experts in anatomy. Alzheimer’s – In the third image (right side), the model appears to focus on the hippocampus, a region commonly associated with the disease.</a:t>
            </a:r>
          </a:p>
          <a:p>
            <a:r>
              <a:rPr lang="en-US"/>
              <a:t>Parkinson’s – The highlighted area seems to correspond to the substantia nigra at the bottom, which is known to be affected in Parkinson’s.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Also, applied grad-cam to res-net to see if there were similar patterns in identification. We found that the heatmap displays an overgeneralization across the MRI images</a:t>
            </a:r>
          </a:p>
          <a:p>
            <a:r>
              <a:rPr lang="en-US"/>
              <a:t>Relying more on broader patterns versus specific regions</a:t>
            </a:r>
          </a:p>
          <a:p>
            <a:r>
              <a:rPr lang="en-US"/>
              <a:t>Misses out on the finer details.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Some takeaways we had form this project were that first of all,  there are many limitation when working with medical data. Additionally, we found that the CNN with the augmented data performed the best while the feed-forward and ResNet performed the worst with the same data. and finally, Grad cam has a lot of potential for visualizing locations in the brain that indicate disease.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finally we were thinking about future extensions of this project. One possibility is that we could do early disease prediction given data of patients with different progression of the diseases. We could also incorporate multimodal learning combining data like genetic markers and clinical history. And finally we could also explore more advanced architectures like vision transformers or combine CNNs with RNNs or LSTMs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notesSlides/notesSlide2.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2" Target="../notesSlides/notesSlide4.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Gf4v1zpkk.mp4" Type="http://schemas.openxmlformats.org/officeDocument/2006/relationships/video"/><Relationship Id="rId11" Target="../media/VAGf4v1zpkk.mp4" Type="http://schemas.microsoft.com/office/2007/relationships/media"/><Relationship Id="rId12" Target="../media/image31.png" Type="http://schemas.openxmlformats.org/officeDocument/2006/relationships/image"/><Relationship Id="rId2" Target="../notesSlides/notesSlide10.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notesSlides/notesSlide11.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notesSlides/notesSlide13.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notesSlides/notesSlide14.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Gf8ya94S8.mp4" Type="http://schemas.microsoft.com/office/2007/relationships/media"/><Relationship Id="rId2" Target="../notesSlides/notesSlide1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38.jpeg" Type="http://schemas.openxmlformats.org/officeDocument/2006/relationships/image"/><Relationship Id="rId9" Target="../media/VAGf8ya94S8.mp4" Type="http://schemas.openxmlformats.org/officeDocument/2006/relationships/video"/></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2" Target="../notesSlides/notesSlide16.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4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2" Target="../notesSlides/notesSlide20.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4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11" Target="../media/image48.png" Type="http://schemas.openxmlformats.org/officeDocument/2006/relationships/image"/><Relationship Id="rId12" Target="../media/image49.png" Type="http://schemas.openxmlformats.org/officeDocument/2006/relationships/image"/><Relationship Id="rId13" Target="../media/image50.png" Type="http://schemas.openxmlformats.org/officeDocument/2006/relationships/image"/><Relationship Id="rId2" Target="../notesSlides/notesSlide22.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2" Target="../notesSlides/notesSlide23.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5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2" Target="../notesSlides/notesSlide2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2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2845650" y="2813374"/>
            <a:ext cx="7875378" cy="8104361"/>
          </a:xfrm>
          <a:custGeom>
            <a:avLst/>
            <a:gdLst/>
            <a:ahLst/>
            <a:cxnLst/>
            <a:rect r="r" b="b" t="t" l="l"/>
            <a:pathLst>
              <a:path h="8104361" w="7875378">
                <a:moveTo>
                  <a:pt x="0" y="0"/>
                </a:moveTo>
                <a:lnTo>
                  <a:pt x="7875378" y="0"/>
                </a:lnTo>
                <a:lnTo>
                  <a:pt x="7875378" y="8104361"/>
                </a:lnTo>
                <a:lnTo>
                  <a:pt x="0" y="8104361"/>
                </a:lnTo>
                <a:lnTo>
                  <a:pt x="0" y="0"/>
                </a:lnTo>
                <a:close/>
              </a:path>
            </a:pathLst>
          </a:custGeom>
          <a:blipFill>
            <a:blip r:embed="rId3">
              <a:alphaModFix amt="56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67430" y="-221276"/>
            <a:ext cx="11071703" cy="11071703"/>
          </a:xfrm>
          <a:custGeom>
            <a:avLst/>
            <a:gdLst/>
            <a:ahLst/>
            <a:cxnLst/>
            <a:rect r="r" b="b" t="t" l="l"/>
            <a:pathLst>
              <a:path h="11071703" w="11071703">
                <a:moveTo>
                  <a:pt x="0" y="0"/>
                </a:moveTo>
                <a:lnTo>
                  <a:pt x="11071703" y="0"/>
                </a:lnTo>
                <a:lnTo>
                  <a:pt x="11071703" y="11071703"/>
                </a:lnTo>
                <a:lnTo>
                  <a:pt x="0" y="11071703"/>
                </a:lnTo>
                <a:lnTo>
                  <a:pt x="0" y="0"/>
                </a:lnTo>
                <a:close/>
              </a:path>
            </a:pathLst>
          </a:custGeom>
          <a:blipFill>
            <a:blip r:embed="rId5">
              <a:alphaModFix amt="49000"/>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4873347" y="1993118"/>
            <a:ext cx="8812768" cy="1469062"/>
          </a:xfrm>
          <a:prstGeom prst="rect">
            <a:avLst/>
          </a:prstGeom>
        </p:spPr>
        <p:txBody>
          <a:bodyPr anchor="t" rtlCol="false" tIns="0" lIns="0" bIns="0" rIns="0">
            <a:spAutoFit/>
          </a:bodyPr>
          <a:lstStyle/>
          <a:p>
            <a:pPr algn="l">
              <a:lnSpc>
                <a:spcPts val="11953"/>
              </a:lnSpc>
              <a:spcBef>
                <a:spcPct val="0"/>
              </a:spcBef>
            </a:pPr>
            <a:r>
              <a:rPr lang="en-US" sz="8537">
                <a:solidFill>
                  <a:srgbClr val="02233D"/>
                </a:solidFill>
                <a:latin typeface="League Spartan"/>
                <a:ea typeface="League Spartan"/>
                <a:cs typeface="League Spartan"/>
                <a:sym typeface="League Spartan"/>
              </a:rPr>
              <a:t>CLASSIFYING </a:t>
            </a:r>
          </a:p>
        </p:txBody>
      </p:sp>
      <p:sp>
        <p:nvSpPr>
          <p:cNvPr name="TextBox 5" id="5"/>
          <p:cNvSpPr txBox="true"/>
          <p:nvPr/>
        </p:nvSpPr>
        <p:spPr>
          <a:xfrm rot="0">
            <a:off x="4873347" y="3566007"/>
            <a:ext cx="13199026" cy="2983537"/>
          </a:xfrm>
          <a:prstGeom prst="rect">
            <a:avLst/>
          </a:prstGeom>
        </p:spPr>
        <p:txBody>
          <a:bodyPr anchor="t" rtlCol="false" tIns="0" lIns="0" bIns="0" rIns="0">
            <a:spAutoFit/>
          </a:bodyPr>
          <a:lstStyle/>
          <a:p>
            <a:pPr algn="l">
              <a:lnSpc>
                <a:spcPts val="11953"/>
              </a:lnSpc>
              <a:spcBef>
                <a:spcPct val="0"/>
              </a:spcBef>
            </a:pPr>
            <a:r>
              <a:rPr lang="en-US" sz="8537">
                <a:solidFill>
                  <a:srgbClr val="02233D"/>
                </a:solidFill>
                <a:latin typeface="League Spartan"/>
                <a:ea typeface="League Spartan"/>
                <a:cs typeface="League Spartan"/>
                <a:sym typeface="League Spartan"/>
              </a:rPr>
              <a:t>NEURODEGENERATIVE DISEASES</a:t>
            </a:r>
          </a:p>
        </p:txBody>
      </p:sp>
      <p:sp>
        <p:nvSpPr>
          <p:cNvPr name="Freeform 6" id="6"/>
          <p:cNvSpPr/>
          <p:nvPr/>
        </p:nvSpPr>
        <p:spPr>
          <a:xfrm flipH="false" flipV="false" rot="0">
            <a:off x="4873347" y="7207181"/>
            <a:ext cx="9193725" cy="1170110"/>
          </a:xfrm>
          <a:custGeom>
            <a:avLst/>
            <a:gdLst/>
            <a:ahLst/>
            <a:cxnLst/>
            <a:rect r="r" b="b" t="t" l="l"/>
            <a:pathLst>
              <a:path h="1170110" w="9193725">
                <a:moveTo>
                  <a:pt x="0" y="0"/>
                </a:moveTo>
                <a:lnTo>
                  <a:pt x="9193725" y="0"/>
                </a:lnTo>
                <a:lnTo>
                  <a:pt x="9193725" y="1170111"/>
                </a:lnTo>
                <a:lnTo>
                  <a:pt x="0" y="11701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5027315" y="7366250"/>
            <a:ext cx="9470132" cy="468652"/>
          </a:xfrm>
          <a:prstGeom prst="rect">
            <a:avLst/>
          </a:prstGeom>
        </p:spPr>
        <p:txBody>
          <a:bodyPr anchor="t" rtlCol="false" tIns="0" lIns="0" bIns="0" rIns="0">
            <a:spAutoFit/>
          </a:bodyPr>
          <a:lstStyle/>
          <a:p>
            <a:pPr algn="l">
              <a:lnSpc>
                <a:spcPts val="3568"/>
              </a:lnSpc>
            </a:pPr>
            <a:r>
              <a:rPr lang="en-US" sz="2549">
                <a:solidFill>
                  <a:srgbClr val="000000"/>
                </a:solidFill>
                <a:latin typeface="Codec Pro"/>
                <a:ea typeface="Codec Pro"/>
                <a:cs typeface="Codec Pro"/>
                <a:sym typeface="Codec Pro"/>
              </a:rPr>
              <a:t>By: Lubaina Malvi, Yining Tao, Yasmeen Dao, Willem Shak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4589113" y="-1764625"/>
            <a:ext cx="6856917" cy="6507838"/>
          </a:xfrm>
          <a:custGeom>
            <a:avLst/>
            <a:gdLst/>
            <a:ahLst/>
            <a:cxnLst/>
            <a:rect r="r" b="b" t="t" l="l"/>
            <a:pathLst>
              <a:path h="6507838" w="6856917">
                <a:moveTo>
                  <a:pt x="0" y="0"/>
                </a:moveTo>
                <a:lnTo>
                  <a:pt x="6856917" y="0"/>
                </a:lnTo>
                <a:lnTo>
                  <a:pt x="6856917" y="6507837"/>
                </a:lnTo>
                <a:lnTo>
                  <a:pt x="0" y="6507837"/>
                </a:lnTo>
                <a:lnTo>
                  <a:pt x="0" y="0"/>
                </a:lnTo>
                <a:close/>
              </a:path>
            </a:pathLst>
          </a:custGeom>
          <a:blipFill>
            <a:blip r:embed="rId3">
              <a:alphaModFix amt="9999"/>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41010" y="-1528425"/>
            <a:ext cx="6387779" cy="6271637"/>
          </a:xfrm>
          <a:custGeom>
            <a:avLst/>
            <a:gdLst/>
            <a:ahLst/>
            <a:cxnLst/>
            <a:rect r="r" b="b" t="t" l="l"/>
            <a:pathLst>
              <a:path h="6271637" w="6387779">
                <a:moveTo>
                  <a:pt x="0" y="0"/>
                </a:moveTo>
                <a:lnTo>
                  <a:pt x="6387779" y="0"/>
                </a:lnTo>
                <a:lnTo>
                  <a:pt x="6387779" y="6271637"/>
                </a:lnTo>
                <a:lnTo>
                  <a:pt x="0" y="6271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341010" y="5276264"/>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7"/>
            <a:stretch>
              <a:fillRect l="0" t="0" r="0" b="0"/>
            </a:stretch>
          </a:blipFill>
        </p:spPr>
      </p:sp>
      <p:sp>
        <p:nvSpPr>
          <p:cNvPr name="Freeform 5" id="5"/>
          <p:cNvSpPr/>
          <p:nvPr/>
        </p:nvSpPr>
        <p:spPr>
          <a:xfrm flipH="false" flipV="false" rot="0">
            <a:off x="-4121970" y="4023949"/>
            <a:ext cx="7875378" cy="8104361"/>
          </a:xfrm>
          <a:custGeom>
            <a:avLst/>
            <a:gdLst/>
            <a:ahLst/>
            <a:cxnLst/>
            <a:rect r="r" b="b" t="t" l="l"/>
            <a:pathLst>
              <a:path h="8104361" w="7875378">
                <a:moveTo>
                  <a:pt x="0" y="0"/>
                </a:moveTo>
                <a:lnTo>
                  <a:pt x="7875378" y="0"/>
                </a:lnTo>
                <a:lnTo>
                  <a:pt x="7875378" y="8104361"/>
                </a:lnTo>
                <a:lnTo>
                  <a:pt x="0" y="81043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642054" y="8076130"/>
            <a:ext cx="3375518" cy="2054847"/>
          </a:xfrm>
          <a:custGeom>
            <a:avLst/>
            <a:gdLst/>
            <a:ahLst/>
            <a:cxnLst/>
            <a:rect r="r" b="b" t="t" l="l"/>
            <a:pathLst>
              <a:path h="2054847" w="3375518">
                <a:moveTo>
                  <a:pt x="0" y="0"/>
                </a:moveTo>
                <a:lnTo>
                  <a:pt x="3375518" y="0"/>
                </a:lnTo>
                <a:lnTo>
                  <a:pt x="3375518" y="2054846"/>
                </a:lnTo>
                <a:lnTo>
                  <a:pt x="0" y="2054846"/>
                </a:lnTo>
                <a:lnTo>
                  <a:pt x="0" y="0"/>
                </a:lnTo>
                <a:close/>
              </a:path>
            </a:pathLst>
          </a:custGeom>
          <a:blipFill>
            <a:blip r:embed="rId10"/>
            <a:stretch>
              <a:fillRect l="0" t="0" r="0" b="0"/>
            </a:stretch>
          </a:blipFill>
        </p:spPr>
      </p:sp>
      <p:sp>
        <p:nvSpPr>
          <p:cNvPr name="TextBox 7" id="7"/>
          <p:cNvSpPr txBox="true"/>
          <p:nvPr/>
        </p:nvSpPr>
        <p:spPr>
          <a:xfrm rot="0">
            <a:off x="2369007" y="3008860"/>
            <a:ext cx="12690438" cy="5234696"/>
          </a:xfrm>
          <a:prstGeom prst="rect">
            <a:avLst/>
          </a:prstGeom>
        </p:spPr>
        <p:txBody>
          <a:bodyPr anchor="t" rtlCol="false" tIns="0" lIns="0" bIns="0" rIns="0">
            <a:spAutoFit/>
          </a:bodyPr>
          <a:lstStyle/>
          <a:p>
            <a:pPr algn="l" marL="642172" indent="-321086" lvl="1">
              <a:lnSpc>
                <a:spcPts val="4164"/>
              </a:lnSpc>
              <a:buFont typeface="Arial"/>
              <a:buChar char="•"/>
            </a:pPr>
            <a:r>
              <a:rPr lang="en-US" sz="2974">
                <a:solidFill>
                  <a:srgbClr val="FFFFFF"/>
                </a:solidFill>
                <a:latin typeface="Codec Pro"/>
                <a:ea typeface="Codec Pro"/>
                <a:cs typeface="Codec Pro"/>
                <a:sym typeface="Codec Pro"/>
              </a:rPr>
              <a:t>We aimed to perform multi-class classification on MRI scans of patients with healthy brains vs patients with neurodegenerative diseases such as Alzheimer’s and Parkinson’s.</a:t>
            </a:r>
          </a:p>
          <a:p>
            <a:pPr algn="l" marL="642172" indent="-321086" lvl="1">
              <a:lnSpc>
                <a:spcPts val="4164"/>
              </a:lnSpc>
              <a:buFont typeface="Arial"/>
              <a:buChar char="•"/>
            </a:pPr>
            <a:r>
              <a:rPr lang="en-US" sz="2974">
                <a:solidFill>
                  <a:srgbClr val="FFFFFF"/>
                </a:solidFill>
                <a:latin typeface="Codec Pro"/>
                <a:ea typeface="Codec Pro"/>
                <a:cs typeface="Codec Pro"/>
                <a:sym typeface="Codec Pro"/>
              </a:rPr>
              <a:t>Identify which areas of the brain have characteristics associated with certain neurodegenerative diseases</a:t>
            </a:r>
          </a:p>
          <a:p>
            <a:pPr algn="l">
              <a:lnSpc>
                <a:spcPts val="4164"/>
              </a:lnSpc>
            </a:pPr>
          </a:p>
          <a:p>
            <a:pPr algn="l" marL="642172" indent="-321086" lvl="1">
              <a:lnSpc>
                <a:spcPts val="4164"/>
              </a:lnSpc>
              <a:buFont typeface="Arial"/>
              <a:buChar char="•"/>
            </a:pPr>
            <a:r>
              <a:rPr lang="en-US" sz="2974">
                <a:solidFill>
                  <a:srgbClr val="FFFFFF"/>
                </a:solidFill>
                <a:latin typeface="Codec Pro"/>
                <a:ea typeface="Codec Pro"/>
                <a:cs typeface="Codec Pro"/>
                <a:sym typeface="Codec Pro"/>
              </a:rPr>
              <a:t>Answer questions like </a:t>
            </a:r>
          </a:p>
          <a:p>
            <a:pPr algn="l" marL="1284344" indent="-428115" lvl="2">
              <a:lnSpc>
                <a:spcPts val="4164"/>
              </a:lnSpc>
              <a:buFont typeface="Arial"/>
              <a:buChar char="⚬"/>
            </a:pPr>
            <a:r>
              <a:rPr lang="en-US" sz="2974">
                <a:solidFill>
                  <a:srgbClr val="FFFFFF"/>
                </a:solidFill>
                <a:latin typeface="Codec Pro"/>
                <a:ea typeface="Codec Pro"/>
                <a:cs typeface="Codec Pro"/>
                <a:sym typeface="Codec Pro"/>
              </a:rPr>
              <a:t>Do multiple diseases exhibit in similar locations in the brain?</a:t>
            </a:r>
          </a:p>
          <a:p>
            <a:pPr algn="l" marL="1284344" indent="-428115" lvl="2">
              <a:lnSpc>
                <a:spcPts val="4164"/>
              </a:lnSpc>
              <a:spcBef>
                <a:spcPct val="0"/>
              </a:spcBef>
              <a:buFont typeface="Arial"/>
              <a:buChar char="⚬"/>
            </a:pPr>
            <a:r>
              <a:rPr lang="en-US" sz="2974">
                <a:solidFill>
                  <a:srgbClr val="FFFFFF"/>
                </a:solidFill>
                <a:latin typeface="Codec Pro"/>
                <a:ea typeface="Codec Pro"/>
                <a:cs typeface="Codec Pro"/>
                <a:sym typeface="Codec Pro"/>
              </a:rPr>
              <a:t>Do certain regions of the brain or shape of brain correlate to the diseases?</a:t>
            </a:r>
          </a:p>
        </p:txBody>
      </p:sp>
      <p:sp>
        <p:nvSpPr>
          <p:cNvPr name="TextBox 8" id="8"/>
          <p:cNvSpPr txBox="true"/>
          <p:nvPr/>
        </p:nvSpPr>
        <p:spPr>
          <a:xfrm rot="0">
            <a:off x="1028700" y="791460"/>
            <a:ext cx="6996502" cy="1262317"/>
          </a:xfrm>
          <a:prstGeom prst="rect">
            <a:avLst/>
          </a:prstGeom>
        </p:spPr>
        <p:txBody>
          <a:bodyPr anchor="t" rtlCol="false" tIns="0" lIns="0" bIns="0" rIns="0">
            <a:spAutoFit/>
          </a:bodyPr>
          <a:lstStyle/>
          <a:p>
            <a:pPr algn="l">
              <a:lnSpc>
                <a:spcPts val="10450"/>
              </a:lnSpc>
              <a:spcBef>
                <a:spcPct val="0"/>
              </a:spcBef>
            </a:pPr>
            <a:r>
              <a:rPr lang="en-US" sz="7464">
                <a:solidFill>
                  <a:srgbClr val="FFFFFF"/>
                </a:solidFill>
                <a:latin typeface="League Spartan"/>
                <a:ea typeface="League Spartan"/>
                <a:cs typeface="League Spartan"/>
                <a:sym typeface="League Spartan"/>
              </a:rPr>
              <a:t>Goals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3319522" y="2371806"/>
            <a:ext cx="9961633" cy="7148193"/>
          </a:xfrm>
          <a:prstGeom prst="rect">
            <a:avLst/>
          </a:prstGeom>
        </p:spPr>
        <p:txBody>
          <a:bodyPr anchor="t" rtlCol="false" tIns="0" lIns="0" bIns="0" rIns="0">
            <a:spAutoFit/>
          </a:bodyPr>
          <a:lstStyle/>
          <a:p>
            <a:pPr algn="l" marL="626304" indent="-313152" lvl="1">
              <a:lnSpc>
                <a:spcPts val="4061"/>
              </a:lnSpc>
              <a:buFont typeface="Arial"/>
              <a:buChar char="•"/>
            </a:pPr>
            <a:r>
              <a:rPr lang="en-US" sz="2900">
                <a:solidFill>
                  <a:srgbClr val="00204B"/>
                </a:solidFill>
                <a:latin typeface="Codec Pro"/>
                <a:ea typeface="Codec Pro"/>
                <a:cs typeface="Codec Pro"/>
                <a:sym typeface="Codec Pro"/>
              </a:rPr>
              <a:t>Kaggle dataset</a:t>
            </a:r>
          </a:p>
          <a:p>
            <a:pPr algn="l" marL="1252607" indent="-417536" lvl="2">
              <a:lnSpc>
                <a:spcPts val="4061"/>
              </a:lnSpc>
              <a:buFont typeface="Arial"/>
              <a:buChar char="⚬"/>
            </a:pPr>
            <a:r>
              <a:rPr lang="en-US" sz="2900">
                <a:solidFill>
                  <a:srgbClr val="00204B"/>
                </a:solidFill>
                <a:latin typeface="Codec Pro"/>
                <a:ea typeface="Codec Pro"/>
                <a:cs typeface="Codec Pro"/>
                <a:sym typeface="Codec Pro"/>
              </a:rPr>
              <a:t>Alzheimer’s - 2500 files</a:t>
            </a:r>
          </a:p>
          <a:p>
            <a:pPr algn="l" marL="1252607" indent="-417536" lvl="2">
              <a:lnSpc>
                <a:spcPts val="4061"/>
              </a:lnSpc>
              <a:buFont typeface="Arial"/>
              <a:buChar char="⚬"/>
            </a:pPr>
            <a:r>
              <a:rPr lang="en-US" sz="2900">
                <a:solidFill>
                  <a:srgbClr val="00204B"/>
                </a:solidFill>
                <a:latin typeface="Codec Pro"/>
                <a:ea typeface="Codec Pro"/>
                <a:cs typeface="Codec Pro"/>
                <a:sym typeface="Codec Pro"/>
              </a:rPr>
              <a:t>Normal - 2699 files</a:t>
            </a:r>
          </a:p>
          <a:p>
            <a:pPr algn="l" marL="1252607" indent="-417536" lvl="2">
              <a:lnSpc>
                <a:spcPts val="4061"/>
              </a:lnSpc>
              <a:buFont typeface="Arial"/>
              <a:buChar char="⚬"/>
            </a:pPr>
            <a:r>
              <a:rPr lang="en-US" sz="2900">
                <a:solidFill>
                  <a:srgbClr val="00204B"/>
                </a:solidFill>
                <a:latin typeface="Codec Pro"/>
                <a:ea typeface="Codec Pro"/>
                <a:cs typeface="Codec Pro"/>
                <a:sym typeface="Codec Pro"/>
              </a:rPr>
              <a:t>Parkinson’s - 2391 files</a:t>
            </a:r>
          </a:p>
          <a:p>
            <a:pPr algn="l" marL="626304" indent="-313152" lvl="1">
              <a:lnSpc>
                <a:spcPts val="4061"/>
              </a:lnSpc>
              <a:buFont typeface="Arial"/>
              <a:buChar char="•"/>
            </a:pPr>
            <a:r>
              <a:rPr lang="en-US" sz="2900">
                <a:solidFill>
                  <a:srgbClr val="00204B"/>
                </a:solidFill>
                <a:latin typeface="Codec Pro"/>
                <a:ea typeface="Codec Pro"/>
                <a:cs typeface="Codec Pro"/>
                <a:sym typeface="Codec Pro"/>
              </a:rPr>
              <a:t>Huggingface Dataset</a:t>
            </a:r>
          </a:p>
          <a:p>
            <a:pPr algn="l" marL="1252607" indent="-417536" lvl="2">
              <a:lnSpc>
                <a:spcPts val="4061"/>
              </a:lnSpc>
              <a:buFont typeface="Arial"/>
              <a:buChar char="⚬"/>
            </a:pPr>
            <a:r>
              <a:rPr lang="en-US" sz="2900">
                <a:solidFill>
                  <a:srgbClr val="00204B"/>
                </a:solidFill>
                <a:latin typeface="Codec Pro"/>
                <a:ea typeface="Codec Pro"/>
                <a:cs typeface="Codec Pro"/>
                <a:sym typeface="Codec Pro"/>
              </a:rPr>
              <a:t>Alzheimers dataset - 6400 rows</a:t>
            </a:r>
          </a:p>
          <a:p>
            <a:pPr algn="l" marL="1878911" indent="-469728" lvl="3">
              <a:lnSpc>
                <a:spcPts val="4061"/>
              </a:lnSpc>
              <a:buFont typeface="Arial"/>
              <a:buChar char="￭"/>
            </a:pPr>
            <a:r>
              <a:rPr lang="en-US" sz="2900">
                <a:solidFill>
                  <a:srgbClr val="00204B"/>
                </a:solidFill>
                <a:latin typeface="Codec Pro"/>
                <a:ea typeface="Codec Pro"/>
                <a:cs typeface="Codec Pro"/>
                <a:sym typeface="Codec Pro"/>
              </a:rPr>
              <a:t>Labels: </a:t>
            </a:r>
          </a:p>
          <a:p>
            <a:pPr algn="l" marL="2505214" indent="-501043" lvl="4">
              <a:lnSpc>
                <a:spcPts val="4061"/>
              </a:lnSpc>
              <a:buFont typeface="Arial"/>
              <a:buChar char="•"/>
            </a:pPr>
            <a:r>
              <a:rPr lang="en-US" sz="2900">
                <a:solidFill>
                  <a:srgbClr val="00204B"/>
                </a:solidFill>
                <a:latin typeface="Codec Pro"/>
                <a:ea typeface="Codec Pro"/>
                <a:cs typeface="Codec Pro"/>
                <a:sym typeface="Codec Pro"/>
              </a:rPr>
              <a:t>0 - mild demented</a:t>
            </a:r>
          </a:p>
          <a:p>
            <a:pPr algn="l" marL="2505214" indent="-501043" lvl="4">
              <a:lnSpc>
                <a:spcPts val="4061"/>
              </a:lnSpc>
              <a:buFont typeface="Arial"/>
              <a:buChar char="•"/>
            </a:pPr>
            <a:r>
              <a:rPr lang="en-US" sz="2900">
                <a:solidFill>
                  <a:srgbClr val="00204B"/>
                </a:solidFill>
                <a:latin typeface="Codec Pro"/>
                <a:ea typeface="Codec Pro"/>
                <a:cs typeface="Codec Pro"/>
                <a:sym typeface="Codec Pro"/>
              </a:rPr>
              <a:t>1 - moderate demented</a:t>
            </a:r>
          </a:p>
          <a:p>
            <a:pPr algn="l" marL="2505214" indent="-501043" lvl="4">
              <a:lnSpc>
                <a:spcPts val="4061"/>
              </a:lnSpc>
              <a:buFont typeface="Arial"/>
              <a:buChar char="•"/>
            </a:pPr>
            <a:r>
              <a:rPr lang="en-US" sz="2900">
                <a:solidFill>
                  <a:srgbClr val="00204B"/>
                </a:solidFill>
                <a:latin typeface="Codec Pro"/>
                <a:ea typeface="Codec Pro"/>
                <a:cs typeface="Codec Pro"/>
                <a:sym typeface="Codec Pro"/>
              </a:rPr>
              <a:t>2 - non demented</a:t>
            </a:r>
          </a:p>
          <a:p>
            <a:pPr algn="l" marL="2505214" indent="-501043" lvl="4">
              <a:lnSpc>
                <a:spcPts val="4061"/>
              </a:lnSpc>
              <a:buFont typeface="Arial"/>
              <a:buChar char="•"/>
            </a:pPr>
            <a:r>
              <a:rPr lang="en-US" sz="2900">
                <a:solidFill>
                  <a:srgbClr val="00204B"/>
                </a:solidFill>
                <a:latin typeface="Codec Pro"/>
                <a:ea typeface="Codec Pro"/>
                <a:cs typeface="Codec Pro"/>
                <a:sym typeface="Codec Pro"/>
              </a:rPr>
              <a:t>3 - very mild demented</a:t>
            </a:r>
          </a:p>
          <a:p>
            <a:pPr algn="l" marL="1878911" indent="-469728" lvl="3">
              <a:lnSpc>
                <a:spcPts val="4061"/>
              </a:lnSpc>
              <a:buFont typeface="Arial"/>
              <a:buChar char="￭"/>
            </a:pPr>
            <a:r>
              <a:rPr lang="en-US" sz="2900">
                <a:solidFill>
                  <a:srgbClr val="00204B"/>
                </a:solidFill>
                <a:latin typeface="Codec Pro"/>
                <a:ea typeface="Codec Pro"/>
                <a:cs typeface="Codec Pro"/>
                <a:sym typeface="Codec Pro"/>
              </a:rPr>
              <a:t>Relabeled:</a:t>
            </a:r>
          </a:p>
          <a:p>
            <a:pPr algn="l" marL="2505214" indent="-501043" lvl="4">
              <a:lnSpc>
                <a:spcPts val="4061"/>
              </a:lnSpc>
              <a:buFont typeface="Arial"/>
              <a:buChar char="•"/>
            </a:pPr>
            <a:r>
              <a:rPr lang="en-US" sz="2900">
                <a:solidFill>
                  <a:srgbClr val="00204B"/>
                </a:solidFill>
                <a:latin typeface="Codec Pro"/>
                <a:ea typeface="Codec Pro"/>
                <a:cs typeface="Codec Pro"/>
                <a:sym typeface="Codec Pro"/>
              </a:rPr>
              <a:t>2 became normal</a:t>
            </a:r>
          </a:p>
          <a:p>
            <a:pPr algn="l" marL="2505214" indent="-501043" lvl="4">
              <a:lnSpc>
                <a:spcPts val="4061"/>
              </a:lnSpc>
              <a:spcBef>
                <a:spcPct val="0"/>
              </a:spcBef>
              <a:buFont typeface="Arial"/>
              <a:buChar char="•"/>
            </a:pPr>
            <a:r>
              <a:rPr lang="en-US" sz="2900">
                <a:solidFill>
                  <a:srgbClr val="00204B"/>
                </a:solidFill>
                <a:latin typeface="Codec Pro"/>
                <a:ea typeface="Codec Pro"/>
                <a:cs typeface="Codec Pro"/>
                <a:sym typeface="Codec Pro"/>
              </a:rPr>
              <a:t>0,1,3 became alzhiemers</a:t>
            </a:r>
          </a:p>
        </p:txBody>
      </p:sp>
      <p:sp>
        <p:nvSpPr>
          <p:cNvPr name="Freeform 5" id="5"/>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2510584" y="1580342"/>
            <a:ext cx="9619354"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Our datasets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4589113" y="-1764625"/>
            <a:ext cx="6856917" cy="6507838"/>
          </a:xfrm>
          <a:custGeom>
            <a:avLst/>
            <a:gdLst/>
            <a:ahLst/>
            <a:cxnLst/>
            <a:rect r="r" b="b" t="t" l="l"/>
            <a:pathLst>
              <a:path h="6507838" w="6856917">
                <a:moveTo>
                  <a:pt x="0" y="0"/>
                </a:moveTo>
                <a:lnTo>
                  <a:pt x="6856917" y="0"/>
                </a:lnTo>
                <a:lnTo>
                  <a:pt x="6856917" y="6507837"/>
                </a:lnTo>
                <a:lnTo>
                  <a:pt x="0" y="6507837"/>
                </a:lnTo>
                <a:lnTo>
                  <a:pt x="0" y="0"/>
                </a:lnTo>
                <a:close/>
              </a:path>
            </a:pathLst>
          </a:custGeom>
          <a:blipFill>
            <a:blip r:embed="rId3">
              <a:alphaModFix amt="9999"/>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41010" y="-1528425"/>
            <a:ext cx="6387779" cy="6271637"/>
          </a:xfrm>
          <a:custGeom>
            <a:avLst/>
            <a:gdLst/>
            <a:ahLst/>
            <a:cxnLst/>
            <a:rect r="r" b="b" t="t" l="l"/>
            <a:pathLst>
              <a:path h="6271637" w="6387779">
                <a:moveTo>
                  <a:pt x="0" y="0"/>
                </a:moveTo>
                <a:lnTo>
                  <a:pt x="6387779" y="0"/>
                </a:lnTo>
                <a:lnTo>
                  <a:pt x="6387779" y="6271637"/>
                </a:lnTo>
                <a:lnTo>
                  <a:pt x="0" y="62716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341010" y="5276264"/>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7"/>
            <a:stretch>
              <a:fillRect l="0" t="0" r="0" b="0"/>
            </a:stretch>
          </a:blipFill>
        </p:spPr>
      </p:sp>
      <p:sp>
        <p:nvSpPr>
          <p:cNvPr name="Freeform 5" id="5"/>
          <p:cNvSpPr/>
          <p:nvPr/>
        </p:nvSpPr>
        <p:spPr>
          <a:xfrm flipH="false" flipV="false" rot="0">
            <a:off x="-4121970" y="4023949"/>
            <a:ext cx="7875378" cy="8104361"/>
          </a:xfrm>
          <a:custGeom>
            <a:avLst/>
            <a:gdLst/>
            <a:ahLst/>
            <a:cxnLst/>
            <a:rect r="r" b="b" t="t" l="l"/>
            <a:pathLst>
              <a:path h="8104361" w="7875378">
                <a:moveTo>
                  <a:pt x="0" y="0"/>
                </a:moveTo>
                <a:lnTo>
                  <a:pt x="7875378" y="0"/>
                </a:lnTo>
                <a:lnTo>
                  <a:pt x="7875378" y="8104361"/>
                </a:lnTo>
                <a:lnTo>
                  <a:pt x="0" y="81043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39664" y="4865539"/>
            <a:ext cx="6992618" cy="5165796"/>
          </a:xfrm>
          <a:custGeom>
            <a:avLst/>
            <a:gdLst/>
            <a:ahLst/>
            <a:cxnLst/>
            <a:rect r="r" b="b" t="t" l="l"/>
            <a:pathLst>
              <a:path h="5165796" w="6992618">
                <a:moveTo>
                  <a:pt x="0" y="0"/>
                </a:moveTo>
                <a:lnTo>
                  <a:pt x="6992618" y="0"/>
                </a:lnTo>
                <a:lnTo>
                  <a:pt x="6992618" y="5165797"/>
                </a:lnTo>
                <a:lnTo>
                  <a:pt x="0" y="5165797"/>
                </a:lnTo>
                <a:lnTo>
                  <a:pt x="0" y="0"/>
                </a:lnTo>
                <a:close/>
              </a:path>
            </a:pathLst>
          </a:custGeom>
          <a:blipFill>
            <a:blip r:embed="rId10"/>
            <a:stretch>
              <a:fillRect l="0" t="0" r="0" b="0"/>
            </a:stretch>
          </a:blipFill>
        </p:spPr>
      </p:sp>
      <p:sp>
        <p:nvSpPr>
          <p:cNvPr name="Freeform 7" id="7"/>
          <p:cNvSpPr/>
          <p:nvPr/>
        </p:nvSpPr>
        <p:spPr>
          <a:xfrm flipH="false" flipV="false" rot="0">
            <a:off x="8773392" y="4865539"/>
            <a:ext cx="8485908" cy="5165796"/>
          </a:xfrm>
          <a:custGeom>
            <a:avLst/>
            <a:gdLst/>
            <a:ahLst/>
            <a:cxnLst/>
            <a:rect r="r" b="b" t="t" l="l"/>
            <a:pathLst>
              <a:path h="5165796" w="8485908">
                <a:moveTo>
                  <a:pt x="0" y="0"/>
                </a:moveTo>
                <a:lnTo>
                  <a:pt x="8485908" y="0"/>
                </a:lnTo>
                <a:lnTo>
                  <a:pt x="8485908" y="5165797"/>
                </a:lnTo>
                <a:lnTo>
                  <a:pt x="0" y="5165797"/>
                </a:lnTo>
                <a:lnTo>
                  <a:pt x="0" y="0"/>
                </a:lnTo>
                <a:close/>
              </a:path>
            </a:pathLst>
          </a:custGeom>
          <a:blipFill>
            <a:blip r:embed="rId11"/>
            <a:stretch>
              <a:fillRect l="0" t="0" r="0" b="0"/>
            </a:stretch>
          </a:blipFill>
        </p:spPr>
      </p:sp>
      <p:sp>
        <p:nvSpPr>
          <p:cNvPr name="TextBox 8" id="8"/>
          <p:cNvSpPr txBox="true"/>
          <p:nvPr/>
        </p:nvSpPr>
        <p:spPr>
          <a:xfrm rot="0">
            <a:off x="2357444" y="838079"/>
            <a:ext cx="8716411" cy="1169078"/>
          </a:xfrm>
          <a:prstGeom prst="rect">
            <a:avLst/>
          </a:prstGeom>
        </p:spPr>
        <p:txBody>
          <a:bodyPr anchor="t" rtlCol="false" tIns="0" lIns="0" bIns="0" rIns="0">
            <a:spAutoFit/>
          </a:bodyPr>
          <a:lstStyle/>
          <a:p>
            <a:pPr algn="l">
              <a:lnSpc>
                <a:spcPts val="9587"/>
              </a:lnSpc>
              <a:spcBef>
                <a:spcPct val="0"/>
              </a:spcBef>
            </a:pPr>
            <a:r>
              <a:rPr lang="en-US" sz="6848">
                <a:solidFill>
                  <a:srgbClr val="FFFFFF"/>
                </a:solidFill>
                <a:latin typeface="League Spartan"/>
                <a:ea typeface="League Spartan"/>
                <a:cs typeface="League Spartan"/>
                <a:sym typeface="League Spartan"/>
              </a:rPr>
              <a:t>What is our data? </a:t>
            </a:r>
          </a:p>
        </p:txBody>
      </p:sp>
      <p:sp>
        <p:nvSpPr>
          <p:cNvPr name="TextBox 9" id="9"/>
          <p:cNvSpPr txBox="true"/>
          <p:nvPr/>
        </p:nvSpPr>
        <p:spPr>
          <a:xfrm rot="0">
            <a:off x="2357444" y="2276408"/>
            <a:ext cx="8271683" cy="2176166"/>
          </a:xfrm>
          <a:prstGeom prst="rect">
            <a:avLst/>
          </a:prstGeom>
        </p:spPr>
        <p:txBody>
          <a:bodyPr anchor="t" rtlCol="false" tIns="0" lIns="0" bIns="0" rIns="0">
            <a:spAutoFit/>
          </a:bodyPr>
          <a:lstStyle/>
          <a:p>
            <a:pPr algn="l" marL="528773" indent="-264386" lvl="1">
              <a:lnSpc>
                <a:spcPts val="3428"/>
              </a:lnSpc>
              <a:buFont typeface="Arial"/>
              <a:buChar char="•"/>
            </a:pPr>
            <a:r>
              <a:rPr lang="en-US" sz="2449">
                <a:solidFill>
                  <a:srgbClr val="FFFFFF"/>
                </a:solidFill>
                <a:latin typeface="Codec Pro"/>
                <a:ea typeface="Codec Pro"/>
                <a:cs typeface="Codec Pro"/>
                <a:sym typeface="Codec Pro"/>
              </a:rPr>
              <a:t>Parkinson’s had fewer images than the normal and Alzheimer’s because we used a second dataset that had just Alzheimer’s data</a:t>
            </a:r>
          </a:p>
          <a:p>
            <a:pPr algn="l" marL="528773" indent="-264386" lvl="1">
              <a:lnSpc>
                <a:spcPts val="3428"/>
              </a:lnSpc>
              <a:spcBef>
                <a:spcPct val="0"/>
              </a:spcBef>
              <a:buFont typeface="Arial"/>
              <a:buChar char="•"/>
            </a:pPr>
            <a:r>
              <a:rPr lang="en-US" sz="2449">
                <a:solidFill>
                  <a:srgbClr val="FFFFFF"/>
                </a:solidFill>
                <a:latin typeface="Codec Pro"/>
                <a:ea typeface="Codec Pro"/>
                <a:cs typeface="Codec Pro"/>
                <a:sym typeface="Codec Pro"/>
              </a:rPr>
              <a:t>These are sample images from all of the classes that we are classifying between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show="false">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4589113" y="-1764625"/>
            <a:ext cx="6856917" cy="6507838"/>
          </a:xfrm>
          <a:custGeom>
            <a:avLst/>
            <a:gdLst/>
            <a:ahLst/>
            <a:cxnLst/>
            <a:rect r="r" b="b" t="t" l="l"/>
            <a:pathLst>
              <a:path h="6507838" w="6856917">
                <a:moveTo>
                  <a:pt x="0" y="0"/>
                </a:moveTo>
                <a:lnTo>
                  <a:pt x="6856917" y="0"/>
                </a:lnTo>
                <a:lnTo>
                  <a:pt x="6856917" y="6507837"/>
                </a:lnTo>
                <a:lnTo>
                  <a:pt x="0" y="6507837"/>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1010" y="-1528425"/>
            <a:ext cx="6387779" cy="6271637"/>
          </a:xfrm>
          <a:custGeom>
            <a:avLst/>
            <a:gdLst/>
            <a:ahLst/>
            <a:cxnLst/>
            <a:rect r="r" b="b" t="t" l="l"/>
            <a:pathLst>
              <a:path h="6271637" w="6387779">
                <a:moveTo>
                  <a:pt x="0" y="0"/>
                </a:moveTo>
                <a:lnTo>
                  <a:pt x="6387779" y="0"/>
                </a:lnTo>
                <a:lnTo>
                  <a:pt x="6387779" y="6271637"/>
                </a:lnTo>
                <a:lnTo>
                  <a:pt x="0" y="62716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341010" y="5276264"/>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0">
            <a:off x="-4121970" y="4023949"/>
            <a:ext cx="7875378" cy="8104361"/>
          </a:xfrm>
          <a:custGeom>
            <a:avLst/>
            <a:gdLst/>
            <a:ahLst/>
            <a:cxnLst/>
            <a:rect r="r" b="b" t="t" l="l"/>
            <a:pathLst>
              <a:path h="8104361" w="7875378">
                <a:moveTo>
                  <a:pt x="0" y="0"/>
                </a:moveTo>
                <a:lnTo>
                  <a:pt x="7875378" y="0"/>
                </a:lnTo>
                <a:lnTo>
                  <a:pt x="7875378" y="8104361"/>
                </a:lnTo>
                <a:lnTo>
                  <a:pt x="0" y="81043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3660614" y="4743594"/>
            <a:ext cx="9750018" cy="5216259"/>
          </a:xfrm>
          <a:custGeom>
            <a:avLst/>
            <a:gdLst/>
            <a:ahLst/>
            <a:cxnLst/>
            <a:rect r="r" b="b" t="t" l="l"/>
            <a:pathLst>
              <a:path h="5216259" w="9750018">
                <a:moveTo>
                  <a:pt x="0" y="0"/>
                </a:moveTo>
                <a:lnTo>
                  <a:pt x="9750017" y="0"/>
                </a:lnTo>
                <a:lnTo>
                  <a:pt x="9750017" y="5216260"/>
                </a:lnTo>
                <a:lnTo>
                  <a:pt x="0" y="5216260"/>
                </a:lnTo>
                <a:lnTo>
                  <a:pt x="0" y="0"/>
                </a:lnTo>
                <a:close/>
              </a:path>
            </a:pathLst>
          </a:custGeom>
          <a:blipFill>
            <a:blip r:embed="rId9"/>
            <a:stretch>
              <a:fillRect l="0" t="0" r="0" b="0"/>
            </a:stretch>
          </a:blipFill>
        </p:spPr>
      </p:sp>
      <p:sp>
        <p:nvSpPr>
          <p:cNvPr name="TextBox 7" id="7"/>
          <p:cNvSpPr txBox="true"/>
          <p:nvPr/>
        </p:nvSpPr>
        <p:spPr>
          <a:xfrm rot="0">
            <a:off x="2357444" y="838079"/>
            <a:ext cx="8716411" cy="1169078"/>
          </a:xfrm>
          <a:prstGeom prst="rect">
            <a:avLst/>
          </a:prstGeom>
        </p:spPr>
        <p:txBody>
          <a:bodyPr anchor="t" rtlCol="false" tIns="0" lIns="0" bIns="0" rIns="0">
            <a:spAutoFit/>
          </a:bodyPr>
          <a:lstStyle/>
          <a:p>
            <a:pPr algn="l">
              <a:lnSpc>
                <a:spcPts val="9587"/>
              </a:lnSpc>
              <a:spcBef>
                <a:spcPct val="0"/>
              </a:spcBef>
            </a:pPr>
            <a:r>
              <a:rPr lang="en-US" sz="6848">
                <a:solidFill>
                  <a:srgbClr val="FFFFFF"/>
                </a:solidFill>
                <a:latin typeface="League Spartan"/>
                <a:ea typeface="League Spartan"/>
                <a:cs typeface="League Spartan"/>
                <a:sym typeface="League Spartan"/>
              </a:rPr>
              <a:t>What is our data? </a:t>
            </a:r>
          </a:p>
        </p:txBody>
      </p:sp>
      <p:sp>
        <p:nvSpPr>
          <p:cNvPr name="TextBox 8" id="8"/>
          <p:cNvSpPr txBox="true"/>
          <p:nvPr/>
        </p:nvSpPr>
        <p:spPr>
          <a:xfrm rot="0">
            <a:off x="2013510" y="2121075"/>
            <a:ext cx="13406684" cy="2477372"/>
          </a:xfrm>
          <a:prstGeom prst="rect">
            <a:avLst/>
          </a:prstGeom>
        </p:spPr>
        <p:txBody>
          <a:bodyPr anchor="t" rtlCol="false" tIns="0" lIns="0" bIns="0" rIns="0">
            <a:spAutoFit/>
          </a:bodyPr>
          <a:lstStyle/>
          <a:p>
            <a:pPr algn="l" marL="501925" indent="-250962" lvl="1">
              <a:lnSpc>
                <a:spcPts val="3254"/>
              </a:lnSpc>
              <a:buFont typeface="Arial"/>
              <a:buChar char="•"/>
            </a:pPr>
            <a:r>
              <a:rPr lang="en-US" sz="2324">
                <a:solidFill>
                  <a:srgbClr val="FFFFFF"/>
                </a:solidFill>
                <a:latin typeface="Codec Pro"/>
                <a:ea typeface="Codec Pro"/>
                <a:cs typeface="Codec Pro"/>
                <a:sym typeface="Codec Pro"/>
              </a:rPr>
              <a:t>We also created a pixel intensity distribution</a:t>
            </a:r>
          </a:p>
          <a:p>
            <a:pPr algn="l" marL="1003849" indent="-334616" lvl="2">
              <a:lnSpc>
                <a:spcPts val="3254"/>
              </a:lnSpc>
              <a:buFont typeface="Arial"/>
              <a:buChar char="⚬"/>
            </a:pPr>
            <a:r>
              <a:rPr lang="en-US" sz="2324">
                <a:solidFill>
                  <a:srgbClr val="FFFFFF"/>
                </a:solidFill>
                <a:latin typeface="Codec Pro"/>
                <a:ea typeface="Codec Pro"/>
                <a:cs typeface="Codec Pro"/>
                <a:sym typeface="Codec Pro"/>
              </a:rPr>
              <a:t>shows us that most of the pixels on of all the images were dark</a:t>
            </a:r>
          </a:p>
          <a:p>
            <a:pPr algn="l" marL="1003849" indent="-334616" lvl="2">
              <a:lnSpc>
                <a:spcPts val="3254"/>
              </a:lnSpc>
              <a:buFont typeface="Arial"/>
              <a:buChar char="⚬"/>
            </a:pPr>
            <a:r>
              <a:rPr lang="en-US" sz="2324">
                <a:solidFill>
                  <a:srgbClr val="FFFFFF"/>
                </a:solidFill>
                <a:latin typeface="Codec Pro"/>
                <a:ea typeface="Codec Pro"/>
                <a:cs typeface="Codec Pro"/>
                <a:sym typeface="Codec Pro"/>
              </a:rPr>
              <a:t>the normal class had more lighter pixels than the others </a:t>
            </a:r>
          </a:p>
          <a:p>
            <a:pPr algn="l" marL="1505774" indent="-376443" lvl="3">
              <a:lnSpc>
                <a:spcPts val="3254"/>
              </a:lnSpc>
              <a:buFont typeface="Arial"/>
              <a:buChar char="￭"/>
            </a:pPr>
            <a:r>
              <a:rPr lang="en-US" sz="2324">
                <a:solidFill>
                  <a:srgbClr val="FFFFFF"/>
                </a:solidFill>
                <a:latin typeface="Codec Pro"/>
                <a:ea typeface="Codec Pro"/>
                <a:cs typeface="Codec Pro"/>
                <a:sym typeface="Codec Pro"/>
              </a:rPr>
              <a:t>tells us that the Parkinson’s images have a noticeable difference in terms of pixel intensity</a:t>
            </a:r>
          </a:p>
          <a:p>
            <a:pPr algn="l" marL="1505774" indent="-376443" lvl="3">
              <a:lnSpc>
                <a:spcPts val="3254"/>
              </a:lnSpc>
              <a:spcBef>
                <a:spcPct val="0"/>
              </a:spcBef>
              <a:buFont typeface="Arial"/>
              <a:buChar char="￭"/>
            </a:pPr>
            <a:r>
              <a:rPr lang="en-US" sz="2324">
                <a:solidFill>
                  <a:srgbClr val="FFFFFF"/>
                </a:solidFill>
                <a:latin typeface="Codec Pro"/>
                <a:ea typeface="Codec Pro"/>
                <a:cs typeface="Codec Pro"/>
                <a:sym typeface="Codec Pro"/>
              </a:rPr>
              <a:t>The Parkinson’s data has less darkness than the other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show="false">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4589113" y="-1764625"/>
            <a:ext cx="6856917" cy="6507838"/>
          </a:xfrm>
          <a:custGeom>
            <a:avLst/>
            <a:gdLst/>
            <a:ahLst/>
            <a:cxnLst/>
            <a:rect r="r" b="b" t="t" l="l"/>
            <a:pathLst>
              <a:path h="6507838" w="6856917">
                <a:moveTo>
                  <a:pt x="0" y="0"/>
                </a:moveTo>
                <a:lnTo>
                  <a:pt x="6856917" y="0"/>
                </a:lnTo>
                <a:lnTo>
                  <a:pt x="6856917" y="6507837"/>
                </a:lnTo>
                <a:lnTo>
                  <a:pt x="0" y="6507837"/>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1010" y="-1528425"/>
            <a:ext cx="6387779" cy="6271637"/>
          </a:xfrm>
          <a:custGeom>
            <a:avLst/>
            <a:gdLst/>
            <a:ahLst/>
            <a:cxnLst/>
            <a:rect r="r" b="b" t="t" l="l"/>
            <a:pathLst>
              <a:path h="6271637" w="6387779">
                <a:moveTo>
                  <a:pt x="0" y="0"/>
                </a:moveTo>
                <a:lnTo>
                  <a:pt x="6387779" y="0"/>
                </a:lnTo>
                <a:lnTo>
                  <a:pt x="6387779" y="6271637"/>
                </a:lnTo>
                <a:lnTo>
                  <a:pt x="0" y="62716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341010" y="5276264"/>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0">
            <a:off x="-4121970" y="4023949"/>
            <a:ext cx="7875378" cy="8104361"/>
          </a:xfrm>
          <a:custGeom>
            <a:avLst/>
            <a:gdLst/>
            <a:ahLst/>
            <a:cxnLst/>
            <a:rect r="r" b="b" t="t" l="l"/>
            <a:pathLst>
              <a:path h="8104361" w="7875378">
                <a:moveTo>
                  <a:pt x="0" y="0"/>
                </a:moveTo>
                <a:lnTo>
                  <a:pt x="7875378" y="0"/>
                </a:lnTo>
                <a:lnTo>
                  <a:pt x="7875378" y="8104361"/>
                </a:lnTo>
                <a:lnTo>
                  <a:pt x="0" y="81043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42908" y="4642056"/>
            <a:ext cx="5274181" cy="5102770"/>
          </a:xfrm>
          <a:custGeom>
            <a:avLst/>
            <a:gdLst/>
            <a:ahLst/>
            <a:cxnLst/>
            <a:rect r="r" b="b" t="t" l="l"/>
            <a:pathLst>
              <a:path h="5102770" w="5274181">
                <a:moveTo>
                  <a:pt x="0" y="0"/>
                </a:moveTo>
                <a:lnTo>
                  <a:pt x="5274180" y="0"/>
                </a:lnTo>
                <a:lnTo>
                  <a:pt x="5274180" y="5102770"/>
                </a:lnTo>
                <a:lnTo>
                  <a:pt x="0" y="5102770"/>
                </a:lnTo>
                <a:lnTo>
                  <a:pt x="0" y="0"/>
                </a:lnTo>
                <a:close/>
              </a:path>
            </a:pathLst>
          </a:custGeom>
          <a:blipFill>
            <a:blip r:embed="rId9"/>
            <a:stretch>
              <a:fillRect l="0" t="0" r="0" b="0"/>
            </a:stretch>
          </a:blipFill>
        </p:spPr>
      </p:sp>
      <p:sp>
        <p:nvSpPr>
          <p:cNvPr name="Freeform 7" id="7"/>
          <p:cNvSpPr/>
          <p:nvPr/>
        </p:nvSpPr>
        <p:spPr>
          <a:xfrm flipH="false" flipV="false" rot="0">
            <a:off x="6336207" y="4642056"/>
            <a:ext cx="4982759" cy="5203926"/>
          </a:xfrm>
          <a:custGeom>
            <a:avLst/>
            <a:gdLst/>
            <a:ahLst/>
            <a:cxnLst/>
            <a:rect r="r" b="b" t="t" l="l"/>
            <a:pathLst>
              <a:path h="5203926" w="4982759">
                <a:moveTo>
                  <a:pt x="0" y="0"/>
                </a:moveTo>
                <a:lnTo>
                  <a:pt x="4982759" y="0"/>
                </a:lnTo>
                <a:lnTo>
                  <a:pt x="4982759" y="5203926"/>
                </a:lnTo>
                <a:lnTo>
                  <a:pt x="0" y="5203926"/>
                </a:lnTo>
                <a:lnTo>
                  <a:pt x="0" y="0"/>
                </a:lnTo>
                <a:close/>
              </a:path>
            </a:pathLst>
          </a:custGeom>
          <a:blipFill>
            <a:blip r:embed="rId10"/>
            <a:stretch>
              <a:fillRect l="0" t="0" r="0" b="0"/>
            </a:stretch>
          </a:blipFill>
        </p:spPr>
      </p:sp>
      <p:sp>
        <p:nvSpPr>
          <p:cNvPr name="Freeform 8" id="8"/>
          <p:cNvSpPr/>
          <p:nvPr/>
        </p:nvSpPr>
        <p:spPr>
          <a:xfrm flipH="false" flipV="false" rot="0">
            <a:off x="11822051" y="4642056"/>
            <a:ext cx="5015283" cy="5203926"/>
          </a:xfrm>
          <a:custGeom>
            <a:avLst/>
            <a:gdLst/>
            <a:ahLst/>
            <a:cxnLst/>
            <a:rect r="r" b="b" t="t" l="l"/>
            <a:pathLst>
              <a:path h="5203926" w="5015283">
                <a:moveTo>
                  <a:pt x="0" y="0"/>
                </a:moveTo>
                <a:lnTo>
                  <a:pt x="5015283" y="0"/>
                </a:lnTo>
                <a:lnTo>
                  <a:pt x="5015283" y="5203926"/>
                </a:lnTo>
                <a:lnTo>
                  <a:pt x="0" y="5203926"/>
                </a:lnTo>
                <a:lnTo>
                  <a:pt x="0" y="0"/>
                </a:lnTo>
                <a:close/>
              </a:path>
            </a:pathLst>
          </a:custGeom>
          <a:blipFill>
            <a:blip r:embed="rId11"/>
            <a:stretch>
              <a:fillRect l="0" t="0" r="0" b="0"/>
            </a:stretch>
          </a:blipFill>
        </p:spPr>
      </p:sp>
      <p:sp>
        <p:nvSpPr>
          <p:cNvPr name="TextBox 9" id="9"/>
          <p:cNvSpPr txBox="true"/>
          <p:nvPr/>
        </p:nvSpPr>
        <p:spPr>
          <a:xfrm rot="0">
            <a:off x="2357444" y="838079"/>
            <a:ext cx="8716411" cy="1169078"/>
          </a:xfrm>
          <a:prstGeom prst="rect">
            <a:avLst/>
          </a:prstGeom>
        </p:spPr>
        <p:txBody>
          <a:bodyPr anchor="t" rtlCol="false" tIns="0" lIns="0" bIns="0" rIns="0">
            <a:spAutoFit/>
          </a:bodyPr>
          <a:lstStyle/>
          <a:p>
            <a:pPr algn="l">
              <a:lnSpc>
                <a:spcPts val="9587"/>
              </a:lnSpc>
              <a:spcBef>
                <a:spcPct val="0"/>
              </a:spcBef>
            </a:pPr>
            <a:r>
              <a:rPr lang="en-US" sz="6848">
                <a:solidFill>
                  <a:srgbClr val="FFFFFF"/>
                </a:solidFill>
                <a:latin typeface="League Spartan"/>
                <a:ea typeface="League Spartan"/>
                <a:cs typeface="League Spartan"/>
                <a:sym typeface="League Spartan"/>
              </a:rPr>
              <a:t>What is our data? </a:t>
            </a:r>
          </a:p>
        </p:txBody>
      </p:sp>
      <p:sp>
        <p:nvSpPr>
          <p:cNvPr name="TextBox 10" id="10"/>
          <p:cNvSpPr txBox="true"/>
          <p:nvPr/>
        </p:nvSpPr>
        <p:spPr>
          <a:xfrm rot="0">
            <a:off x="2357444" y="2276408"/>
            <a:ext cx="11581263" cy="2176166"/>
          </a:xfrm>
          <a:prstGeom prst="rect">
            <a:avLst/>
          </a:prstGeom>
        </p:spPr>
        <p:txBody>
          <a:bodyPr anchor="t" rtlCol="false" tIns="0" lIns="0" bIns="0" rIns="0">
            <a:spAutoFit/>
          </a:bodyPr>
          <a:lstStyle/>
          <a:p>
            <a:pPr algn="l" marL="528773" indent="-264386" lvl="1">
              <a:lnSpc>
                <a:spcPts val="3428"/>
              </a:lnSpc>
              <a:buFont typeface="Arial"/>
              <a:buChar char="•"/>
            </a:pPr>
            <a:r>
              <a:rPr lang="en-US" sz="2449">
                <a:solidFill>
                  <a:srgbClr val="FFFFFF"/>
                </a:solidFill>
                <a:latin typeface="Codec Pro"/>
                <a:ea typeface="Codec Pro"/>
                <a:cs typeface="Codec Pro"/>
                <a:sym typeface="Codec Pro"/>
              </a:rPr>
              <a:t>We also created 3D PCA scatter plots on the normalized and scaled data using the original data </a:t>
            </a:r>
          </a:p>
          <a:p>
            <a:pPr algn="l" marL="1057545" indent="-352515" lvl="2">
              <a:lnSpc>
                <a:spcPts val="3428"/>
              </a:lnSpc>
              <a:buFont typeface="Arial"/>
              <a:buChar char="⚬"/>
            </a:pPr>
            <a:r>
              <a:rPr lang="en-US" sz="2449">
                <a:solidFill>
                  <a:srgbClr val="FFFFFF"/>
                </a:solidFill>
                <a:latin typeface="Codec Pro"/>
                <a:ea typeface="Codec Pro"/>
                <a:cs typeface="Codec Pro"/>
                <a:sym typeface="Codec Pro"/>
              </a:rPr>
              <a:t> clustered very close together but all separated into their own classes</a:t>
            </a:r>
          </a:p>
          <a:p>
            <a:pPr algn="l" marL="1586318" indent="-396579" lvl="3">
              <a:lnSpc>
                <a:spcPts val="3428"/>
              </a:lnSpc>
              <a:spcBef>
                <a:spcPct val="0"/>
              </a:spcBef>
              <a:buFont typeface="Arial"/>
              <a:buChar char="￭"/>
            </a:pPr>
            <a:r>
              <a:rPr lang="en-US" sz="2449">
                <a:solidFill>
                  <a:srgbClr val="FFFFFF"/>
                </a:solidFill>
                <a:latin typeface="Codec Pro"/>
                <a:ea typeface="Codec Pro"/>
                <a:cs typeface="Codec Pro"/>
                <a:sym typeface="Codec Pro"/>
              </a:rPr>
              <a:t>this tells us that the data was inherently a little different between the classes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2251629" y="1871299"/>
            <a:ext cx="14417460" cy="7748291"/>
          </a:xfrm>
          <a:prstGeom prst="rect">
            <a:avLst/>
          </a:prstGeom>
        </p:spPr>
        <p:txBody>
          <a:bodyPr anchor="t" rtlCol="false" tIns="0" lIns="0" bIns="0" rIns="0">
            <a:spAutoFit/>
          </a:bodyPr>
          <a:lstStyle/>
          <a:p>
            <a:pPr algn="l" marL="528773" indent="-264386" lvl="1">
              <a:lnSpc>
                <a:spcPts val="3428"/>
              </a:lnSpc>
              <a:buFont typeface="Arial"/>
              <a:buChar char="•"/>
            </a:pPr>
            <a:r>
              <a:rPr lang="en-US" b="true" sz="2449">
                <a:solidFill>
                  <a:srgbClr val="00204B"/>
                </a:solidFill>
                <a:latin typeface="Codec Pro Bold"/>
                <a:ea typeface="Codec Pro Bold"/>
                <a:cs typeface="Codec Pro Bold"/>
                <a:sym typeface="Codec Pro Bold"/>
              </a:rPr>
              <a:t>Diifficulties in finding medical data</a:t>
            </a:r>
          </a:p>
          <a:p>
            <a:pPr algn="l" marL="1057545" indent="-352515" lvl="2">
              <a:lnSpc>
                <a:spcPts val="3428"/>
              </a:lnSpc>
              <a:buFont typeface="Arial"/>
              <a:buChar char="⚬"/>
            </a:pPr>
            <a:r>
              <a:rPr lang="en-US" b="true" sz="2449">
                <a:solidFill>
                  <a:srgbClr val="00204B"/>
                </a:solidFill>
                <a:latin typeface="Codec Pro Bold"/>
                <a:ea typeface="Codec Pro Bold"/>
                <a:cs typeface="Codec Pro Bold"/>
                <a:sym typeface="Codec Pro Bold"/>
              </a:rPr>
              <a:t>Medical datasets are often restricted due to privacy concerns and regulatory limitations</a:t>
            </a:r>
          </a:p>
          <a:p>
            <a:pPr algn="l" marL="1057545" indent="-352515" lvl="2">
              <a:lnSpc>
                <a:spcPts val="3428"/>
              </a:lnSpc>
              <a:buFont typeface="Arial"/>
              <a:buChar char="⚬"/>
            </a:pPr>
            <a:r>
              <a:rPr lang="en-US" sz="2449">
                <a:solidFill>
                  <a:srgbClr val="00204B"/>
                </a:solidFill>
                <a:latin typeface="Codec Pro"/>
                <a:ea typeface="Codec Pro"/>
                <a:cs typeface="Codec Pro"/>
                <a:sym typeface="Codec Pro"/>
              </a:rPr>
              <a:t>We originally planned to include an additional neurdegenerative disease but couldn’t find structured MRI data that matched our existing datasets</a:t>
            </a:r>
          </a:p>
          <a:p>
            <a:pPr algn="l" marL="1057545" indent="-352515" lvl="2">
              <a:lnSpc>
                <a:spcPts val="3428"/>
              </a:lnSpc>
              <a:buFont typeface="Arial"/>
              <a:buChar char="⚬"/>
            </a:pPr>
            <a:r>
              <a:rPr lang="en-US" sz="2449">
                <a:solidFill>
                  <a:srgbClr val="00204B"/>
                </a:solidFill>
                <a:latin typeface="Codec Pro"/>
                <a:ea typeface="Codec Pro"/>
                <a:cs typeface="Codec Pro"/>
                <a:sym typeface="Codec Pro"/>
              </a:rPr>
              <a:t>Public datasets are often limited in size and diversity, making generalization harder</a:t>
            </a:r>
          </a:p>
          <a:p>
            <a:pPr algn="l" marL="1057545" indent="-352515" lvl="2">
              <a:lnSpc>
                <a:spcPts val="3428"/>
              </a:lnSpc>
              <a:buFont typeface="Arial"/>
              <a:buChar char="⚬"/>
            </a:pPr>
            <a:r>
              <a:rPr lang="en-US" sz="2449">
                <a:solidFill>
                  <a:srgbClr val="00204B"/>
                </a:solidFill>
                <a:latin typeface="Codec Pro"/>
                <a:ea typeface="Codec Pro"/>
                <a:cs typeface="Codec Pro"/>
                <a:sym typeface="Codec Pro"/>
              </a:rPr>
              <a:t>One of our very initial thoughts was “can we identify whether there are brain features that indicate a person is likely to develop the disease”</a:t>
            </a:r>
          </a:p>
          <a:p>
            <a:pPr algn="l" marL="1586318" indent="-396579" lvl="3">
              <a:lnSpc>
                <a:spcPts val="3428"/>
              </a:lnSpc>
              <a:buFont typeface="Arial"/>
              <a:buChar char="￭"/>
            </a:pPr>
            <a:r>
              <a:rPr lang="en-US" sz="2449">
                <a:solidFill>
                  <a:srgbClr val="00204B"/>
                </a:solidFill>
                <a:latin typeface="Codec Pro"/>
                <a:ea typeface="Codec Pro"/>
                <a:cs typeface="Codec Pro"/>
                <a:sym typeface="Codec Pro"/>
              </a:rPr>
              <a:t>But again, there is not a lot of data containing brain scans of people’s brains before and after they developed a certain disease</a:t>
            </a:r>
          </a:p>
          <a:p>
            <a:pPr algn="l">
              <a:lnSpc>
                <a:spcPts val="3428"/>
              </a:lnSpc>
            </a:pPr>
          </a:p>
          <a:p>
            <a:pPr algn="l" marL="528773" indent="-264386" lvl="1">
              <a:lnSpc>
                <a:spcPts val="3428"/>
              </a:lnSpc>
              <a:buFont typeface="Arial"/>
              <a:buChar char="•"/>
            </a:pPr>
            <a:r>
              <a:rPr lang="en-US" b="true" sz="2449">
                <a:solidFill>
                  <a:srgbClr val="00204B"/>
                </a:solidFill>
                <a:latin typeface="Codec Pro Bold"/>
                <a:ea typeface="Codec Pro Bold"/>
                <a:cs typeface="Codec Pro Bold"/>
                <a:sym typeface="Codec Pro Bold"/>
              </a:rPr>
              <a:t>Challenges with medical imaging data</a:t>
            </a:r>
          </a:p>
          <a:p>
            <a:pPr algn="l" marL="1057545" indent="-352515" lvl="2">
              <a:lnSpc>
                <a:spcPts val="3428"/>
              </a:lnSpc>
              <a:buFont typeface="Arial"/>
              <a:buChar char="⚬"/>
            </a:pPr>
            <a:r>
              <a:rPr lang="en-US" b="true" sz="2449">
                <a:solidFill>
                  <a:srgbClr val="00204B"/>
                </a:solidFill>
                <a:latin typeface="Codec Pro Bold"/>
                <a:ea typeface="Codec Pro Bold"/>
                <a:cs typeface="Codec Pro Bold"/>
                <a:sym typeface="Codec Pro Bold"/>
              </a:rPr>
              <a:t>MRI scans from different machines, hospitals, and protocols lead to inconsistencies</a:t>
            </a:r>
            <a:r>
              <a:rPr lang="en-US" sz="2449">
                <a:solidFill>
                  <a:srgbClr val="00204B"/>
                </a:solidFill>
                <a:latin typeface="Codec Pro"/>
                <a:ea typeface="Codec Pro"/>
                <a:cs typeface="Codec Pro"/>
                <a:sym typeface="Codec Pro"/>
              </a:rPr>
              <a:t> in resolution, contrast, and noise level</a:t>
            </a:r>
          </a:p>
          <a:p>
            <a:pPr algn="l" marL="1586318" indent="-396579" lvl="3">
              <a:lnSpc>
                <a:spcPts val="3428"/>
              </a:lnSpc>
              <a:buFont typeface="Arial"/>
              <a:buChar char="￭"/>
            </a:pPr>
            <a:r>
              <a:rPr lang="en-US" sz="2449">
                <a:solidFill>
                  <a:srgbClr val="00204B"/>
                </a:solidFill>
                <a:latin typeface="Codec Pro"/>
                <a:ea typeface="Codec Pro"/>
                <a:cs typeface="Codec Pro"/>
                <a:sym typeface="Codec Pro"/>
              </a:rPr>
              <a:t>These can introduce biases which can make training a model more challenging</a:t>
            </a:r>
          </a:p>
          <a:p>
            <a:pPr algn="l">
              <a:lnSpc>
                <a:spcPts val="3428"/>
              </a:lnSpc>
            </a:pPr>
          </a:p>
          <a:p>
            <a:pPr algn="l" marL="528773" indent="-264386" lvl="1">
              <a:lnSpc>
                <a:spcPts val="3428"/>
              </a:lnSpc>
              <a:buFont typeface="Arial"/>
              <a:buChar char="•"/>
            </a:pPr>
            <a:r>
              <a:rPr lang="en-US" sz="2449">
                <a:solidFill>
                  <a:srgbClr val="00204B"/>
                </a:solidFill>
                <a:latin typeface="Codec Pro"/>
                <a:ea typeface="Codec Pro"/>
                <a:cs typeface="Codec Pro"/>
                <a:sym typeface="Codec Pro"/>
              </a:rPr>
              <a:t>C</a:t>
            </a:r>
            <a:r>
              <a:rPr lang="en-US" b="true" sz="2449">
                <a:solidFill>
                  <a:srgbClr val="00204B"/>
                </a:solidFill>
                <a:latin typeface="Codec Pro Bold"/>
                <a:ea typeface="Codec Pro Bold"/>
                <a:cs typeface="Codec Pro Bold"/>
                <a:sym typeface="Codec Pro Bold"/>
              </a:rPr>
              <a:t>omputational challenges</a:t>
            </a:r>
          </a:p>
          <a:p>
            <a:pPr algn="l" marL="1057545" indent="-352515" lvl="2">
              <a:lnSpc>
                <a:spcPts val="3428"/>
              </a:lnSpc>
              <a:buFont typeface="Arial"/>
              <a:buChar char="⚬"/>
            </a:pPr>
            <a:r>
              <a:rPr lang="en-US" b="true" sz="2449">
                <a:solidFill>
                  <a:srgbClr val="00204B"/>
                </a:solidFill>
                <a:latin typeface="Codec Pro Bold"/>
                <a:ea typeface="Codec Pro Bold"/>
                <a:cs typeface="Codec Pro Bold"/>
                <a:sym typeface="Codec Pro Bold"/>
              </a:rPr>
              <a:t>High resolution MRI images require significant memory and processing power</a:t>
            </a:r>
          </a:p>
          <a:p>
            <a:pPr algn="l" marL="1057545" indent="-352515" lvl="2">
              <a:lnSpc>
                <a:spcPts val="3428"/>
              </a:lnSpc>
              <a:spcBef>
                <a:spcPct val="0"/>
              </a:spcBef>
              <a:buFont typeface="Arial"/>
              <a:buChar char="⚬"/>
            </a:pPr>
            <a:r>
              <a:rPr lang="en-US" sz="2449">
                <a:solidFill>
                  <a:srgbClr val="00204B"/>
                </a:solidFill>
                <a:latin typeface="Codec Pro"/>
                <a:ea typeface="Codec Pro"/>
                <a:cs typeface="Codec Pro"/>
                <a:sym typeface="Codec Pro"/>
              </a:rPr>
              <a:t>And training the models on the images was computationally expensive</a:t>
            </a:r>
          </a:p>
        </p:txBody>
      </p:sp>
      <p:sp>
        <p:nvSpPr>
          <p:cNvPr name="Freeform 5" id="5"/>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2409899" y="852317"/>
            <a:ext cx="9619354"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Dataset limitations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true" flipV="false" rot="0">
            <a:off x="-195557" y="-392352"/>
            <a:ext cx="11071703" cy="11071703"/>
          </a:xfrm>
          <a:custGeom>
            <a:avLst/>
            <a:gdLst/>
            <a:ahLst/>
            <a:cxnLst/>
            <a:rect r="r" b="b" t="t" l="l"/>
            <a:pathLst>
              <a:path h="11071703" w="11071703">
                <a:moveTo>
                  <a:pt x="11071703" y="0"/>
                </a:moveTo>
                <a:lnTo>
                  <a:pt x="0" y="0"/>
                </a:lnTo>
                <a:lnTo>
                  <a:pt x="0" y="11071704"/>
                </a:lnTo>
                <a:lnTo>
                  <a:pt x="11071703" y="11071704"/>
                </a:lnTo>
                <a:lnTo>
                  <a:pt x="11071703" y="0"/>
                </a:lnTo>
                <a:close/>
              </a:path>
            </a:pathLst>
          </a:custGeom>
          <a:blipFill>
            <a:blip r:embed="rId3">
              <a:alphaModFix amt="49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948055" y="8291726"/>
            <a:ext cx="7315200" cy="931025"/>
          </a:xfrm>
          <a:custGeom>
            <a:avLst/>
            <a:gdLst/>
            <a:ahLst/>
            <a:cxnLst/>
            <a:rect r="r" b="b" t="t" l="l"/>
            <a:pathLst>
              <a:path h="931025" w="7315200">
                <a:moveTo>
                  <a:pt x="0" y="0"/>
                </a:moveTo>
                <a:lnTo>
                  <a:pt x="7315200" y="0"/>
                </a:lnTo>
                <a:lnTo>
                  <a:pt x="7315200" y="931026"/>
                </a:lnTo>
                <a:lnTo>
                  <a:pt x="0" y="9310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6416515" y="8504666"/>
            <a:ext cx="505147" cy="505147"/>
          </a:xfrm>
          <a:custGeom>
            <a:avLst/>
            <a:gdLst/>
            <a:ahLst/>
            <a:cxnLst/>
            <a:rect r="r" b="b" t="t" l="l"/>
            <a:pathLst>
              <a:path h="505147" w="505147">
                <a:moveTo>
                  <a:pt x="0" y="0"/>
                </a:moveTo>
                <a:lnTo>
                  <a:pt x="505147" y="0"/>
                </a:lnTo>
                <a:lnTo>
                  <a:pt x="505147" y="505146"/>
                </a:lnTo>
                <a:lnTo>
                  <a:pt x="0" y="5051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3853157" y="8082827"/>
            <a:ext cx="7315200" cy="931025"/>
          </a:xfrm>
          <a:custGeom>
            <a:avLst/>
            <a:gdLst/>
            <a:ahLst/>
            <a:cxnLst/>
            <a:rect r="r" b="b" t="t" l="l"/>
            <a:pathLst>
              <a:path h="931025" w="7315200">
                <a:moveTo>
                  <a:pt x="0" y="0"/>
                </a:moveTo>
                <a:lnTo>
                  <a:pt x="7315200" y="0"/>
                </a:lnTo>
                <a:lnTo>
                  <a:pt x="7315200" y="931026"/>
                </a:lnTo>
                <a:lnTo>
                  <a:pt x="0" y="9310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2005795"/>
            <a:ext cx="15231702" cy="5455210"/>
          </a:xfrm>
          <a:prstGeom prst="rect">
            <a:avLst/>
          </a:prstGeom>
        </p:spPr>
        <p:txBody>
          <a:bodyPr anchor="t" rtlCol="false" tIns="0" lIns="0" bIns="0" rIns="0">
            <a:spAutoFit/>
          </a:bodyPr>
          <a:lstStyle/>
          <a:p>
            <a:pPr algn="l" marL="669931" indent="-334965" lvl="1">
              <a:lnSpc>
                <a:spcPts val="4344"/>
              </a:lnSpc>
              <a:buFont typeface="Arial"/>
              <a:buChar char="•"/>
            </a:pPr>
            <a:r>
              <a:rPr lang="en-US" sz="3102">
                <a:solidFill>
                  <a:srgbClr val="00204B"/>
                </a:solidFill>
                <a:latin typeface="Codec Pro"/>
                <a:ea typeface="Codec Pro"/>
                <a:cs typeface="Codec Pro"/>
                <a:sym typeface="Codec Pro"/>
              </a:rPr>
              <a:t>The hugging face dataset had images in binary format, so we had to convert to images then to 2d np arrays</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The Kaggle dataset had jpegs and pngs, we had to convert into 2d np arrays</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Resize images to all be 128x128 and greyscale, some were as big as 540x470</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The hugging face labels were 0-3 for severity of alzheimers, we classified 2 as normal, and 0, 1, 3 as alzheimers</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Manually removed faulty images</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Normalized the pixel values to be between 0 and 1</a:t>
            </a:r>
          </a:p>
          <a:p>
            <a:pPr algn="l">
              <a:lnSpc>
                <a:spcPts val="4344"/>
              </a:lnSpc>
            </a:pPr>
          </a:p>
          <a:p>
            <a:pPr algn="l">
              <a:lnSpc>
                <a:spcPts val="4344"/>
              </a:lnSpc>
              <a:spcBef>
                <a:spcPct val="0"/>
              </a:spcBef>
            </a:pPr>
          </a:p>
        </p:txBody>
      </p:sp>
      <p:sp>
        <p:nvSpPr>
          <p:cNvPr name="Freeform 7" id="7"/>
          <p:cNvSpPr/>
          <p:nvPr/>
        </p:nvSpPr>
        <p:spPr>
          <a:xfrm flipH="false" flipV="false" rot="0">
            <a:off x="11210995" y="5606791"/>
            <a:ext cx="7077005" cy="3998508"/>
          </a:xfrm>
          <a:custGeom>
            <a:avLst/>
            <a:gdLst/>
            <a:ahLst/>
            <a:cxnLst/>
            <a:rect r="r" b="b" t="t" l="l"/>
            <a:pathLst>
              <a:path h="3998508" w="7077005">
                <a:moveTo>
                  <a:pt x="0" y="0"/>
                </a:moveTo>
                <a:lnTo>
                  <a:pt x="7077005" y="0"/>
                </a:lnTo>
                <a:lnTo>
                  <a:pt x="7077005" y="3998508"/>
                </a:lnTo>
                <a:lnTo>
                  <a:pt x="0" y="3998508"/>
                </a:lnTo>
                <a:lnTo>
                  <a:pt x="0" y="0"/>
                </a:lnTo>
                <a:close/>
              </a:path>
            </a:pathLst>
          </a:custGeom>
          <a:blipFill>
            <a:blip r:embed="rId9"/>
            <a:stretch>
              <a:fillRect l="0" t="0" r="0" b="0"/>
            </a:stretch>
          </a:blipFill>
        </p:spPr>
      </p:sp>
      <p:sp>
        <p:nvSpPr>
          <p:cNvPr name="TextBox 8" id="8"/>
          <p:cNvSpPr txBox="true"/>
          <p:nvPr/>
        </p:nvSpPr>
        <p:spPr>
          <a:xfrm rot="0">
            <a:off x="1028700" y="914400"/>
            <a:ext cx="17481908" cy="1027472"/>
          </a:xfrm>
          <a:prstGeom prst="rect">
            <a:avLst/>
          </a:prstGeom>
        </p:spPr>
        <p:txBody>
          <a:bodyPr anchor="t" rtlCol="false" tIns="0" lIns="0" bIns="0" rIns="0">
            <a:spAutoFit/>
          </a:bodyPr>
          <a:lstStyle/>
          <a:p>
            <a:pPr algn="l">
              <a:lnSpc>
                <a:spcPts val="8467"/>
              </a:lnSpc>
              <a:spcBef>
                <a:spcPct val="0"/>
              </a:spcBef>
            </a:pPr>
            <a:r>
              <a:rPr lang="en-US" sz="6048">
                <a:solidFill>
                  <a:srgbClr val="000000"/>
                </a:solidFill>
                <a:latin typeface="League Spartan"/>
                <a:ea typeface="League Spartan"/>
                <a:cs typeface="League Spartan"/>
                <a:sym typeface="League Spartan"/>
              </a:rPr>
              <a:t>Combining Datasets and Preprocessing</a:t>
            </a:r>
          </a:p>
        </p:txBody>
      </p:sp>
      <p:sp>
        <p:nvSpPr>
          <p:cNvPr name="TextBox 9" id="9"/>
          <p:cNvSpPr txBox="true"/>
          <p:nvPr/>
        </p:nvSpPr>
        <p:spPr>
          <a:xfrm rot="0">
            <a:off x="11210995" y="5060693"/>
            <a:ext cx="3241923" cy="546098"/>
          </a:xfrm>
          <a:prstGeom prst="rect">
            <a:avLst/>
          </a:prstGeom>
        </p:spPr>
        <p:txBody>
          <a:bodyPr anchor="t" rtlCol="false" tIns="0" lIns="0" bIns="0" rIns="0">
            <a:spAutoFit/>
          </a:bodyPr>
          <a:lstStyle/>
          <a:p>
            <a:pPr algn="ctr">
              <a:lnSpc>
                <a:spcPts val="4550"/>
              </a:lnSpc>
              <a:spcBef>
                <a:spcPct val="0"/>
              </a:spcBef>
            </a:pPr>
            <a:r>
              <a:rPr lang="en-US" sz="3250">
                <a:solidFill>
                  <a:srgbClr val="000000"/>
                </a:solidFill>
                <a:latin typeface="League Spartan"/>
                <a:ea typeface="League Spartan"/>
                <a:cs typeface="League Spartan"/>
                <a:sym typeface="League Spartan"/>
              </a:rPr>
              <a:t>Image Resizing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true" flipV="false" rot="0">
            <a:off x="-195557" y="-392352"/>
            <a:ext cx="11071703" cy="11071703"/>
          </a:xfrm>
          <a:custGeom>
            <a:avLst/>
            <a:gdLst/>
            <a:ahLst/>
            <a:cxnLst/>
            <a:rect r="r" b="b" t="t" l="l"/>
            <a:pathLst>
              <a:path h="11071703" w="11071703">
                <a:moveTo>
                  <a:pt x="11071703" y="0"/>
                </a:moveTo>
                <a:lnTo>
                  <a:pt x="0" y="0"/>
                </a:lnTo>
                <a:lnTo>
                  <a:pt x="0" y="11071704"/>
                </a:lnTo>
                <a:lnTo>
                  <a:pt x="11071703" y="11071704"/>
                </a:lnTo>
                <a:lnTo>
                  <a:pt x="11071703" y="0"/>
                </a:lnTo>
                <a:close/>
              </a:path>
            </a:pathLst>
          </a:custGeom>
          <a:blipFill>
            <a:blip r:embed="rId3">
              <a:alphaModFix amt="49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948055" y="8291726"/>
            <a:ext cx="7315200" cy="931025"/>
          </a:xfrm>
          <a:custGeom>
            <a:avLst/>
            <a:gdLst/>
            <a:ahLst/>
            <a:cxnLst/>
            <a:rect r="r" b="b" t="t" l="l"/>
            <a:pathLst>
              <a:path h="931025" w="7315200">
                <a:moveTo>
                  <a:pt x="0" y="0"/>
                </a:moveTo>
                <a:lnTo>
                  <a:pt x="7315200" y="0"/>
                </a:lnTo>
                <a:lnTo>
                  <a:pt x="7315200" y="931026"/>
                </a:lnTo>
                <a:lnTo>
                  <a:pt x="0" y="9310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3853157" y="8082827"/>
            <a:ext cx="7315200" cy="931025"/>
          </a:xfrm>
          <a:custGeom>
            <a:avLst/>
            <a:gdLst/>
            <a:ahLst/>
            <a:cxnLst/>
            <a:rect r="r" b="b" t="t" l="l"/>
            <a:pathLst>
              <a:path h="931025" w="7315200">
                <a:moveTo>
                  <a:pt x="0" y="0"/>
                </a:moveTo>
                <a:lnTo>
                  <a:pt x="7315200" y="0"/>
                </a:lnTo>
                <a:lnTo>
                  <a:pt x="7315200" y="931026"/>
                </a:lnTo>
                <a:lnTo>
                  <a:pt x="0" y="9310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8700" y="2005795"/>
            <a:ext cx="13603356" cy="6541060"/>
          </a:xfrm>
          <a:prstGeom prst="rect">
            <a:avLst/>
          </a:prstGeom>
        </p:spPr>
        <p:txBody>
          <a:bodyPr anchor="t" rtlCol="false" tIns="0" lIns="0" bIns="0" rIns="0">
            <a:spAutoFit/>
          </a:bodyPr>
          <a:lstStyle/>
          <a:p>
            <a:pPr algn="l" marL="669931" indent="-334965" lvl="1">
              <a:lnSpc>
                <a:spcPts val="4344"/>
              </a:lnSpc>
              <a:buFont typeface="Arial"/>
              <a:buChar char="•"/>
            </a:pPr>
            <a:r>
              <a:rPr lang="en-US" sz="3102">
                <a:solidFill>
                  <a:srgbClr val="00204B"/>
                </a:solidFill>
                <a:latin typeface="Codec Pro"/>
                <a:ea typeface="Codec Pro"/>
                <a:cs typeface="Codec Pro"/>
                <a:sym typeface="Codec Pro"/>
              </a:rPr>
              <a:t>We realized that our data was unbalanced after doing some model development</a:t>
            </a:r>
          </a:p>
          <a:p>
            <a:pPr algn="l" marL="1339861" indent="-446620" lvl="2">
              <a:lnSpc>
                <a:spcPts val="4344"/>
              </a:lnSpc>
              <a:buFont typeface="Arial"/>
              <a:buChar char="⚬"/>
            </a:pPr>
            <a:r>
              <a:rPr lang="en-US" sz="3102">
                <a:solidFill>
                  <a:srgbClr val="00204B"/>
                </a:solidFill>
                <a:latin typeface="Codec Pro"/>
                <a:ea typeface="Codec Pro"/>
                <a:cs typeface="Codec Pro"/>
                <a:sym typeface="Codec Pro"/>
              </a:rPr>
              <a:t>About 50% less Parkinson’s images than the other classes</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We also wanted our model to be more generalizable</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We ran some models with our original dataset, and...</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Created a second dataset with </a:t>
            </a:r>
            <a:r>
              <a:rPr lang="en-US" b="true" sz="3102">
                <a:solidFill>
                  <a:srgbClr val="00204B"/>
                </a:solidFill>
                <a:latin typeface="Codec Pro Bold"/>
                <a:ea typeface="Codec Pro Bold"/>
                <a:cs typeface="Codec Pro Bold"/>
                <a:sym typeface="Codec Pro Bold"/>
              </a:rPr>
              <a:t>augmented data</a:t>
            </a:r>
          </a:p>
          <a:p>
            <a:pPr algn="l" marL="1339861" indent="-446620" lvl="2">
              <a:lnSpc>
                <a:spcPts val="4344"/>
              </a:lnSpc>
              <a:buFont typeface="Arial"/>
              <a:buChar char="⚬"/>
            </a:pPr>
            <a:r>
              <a:rPr lang="en-US" sz="3102">
                <a:solidFill>
                  <a:srgbClr val="00204B"/>
                </a:solidFill>
                <a:latin typeface="Codec Pro"/>
                <a:ea typeface="Codec Pro"/>
                <a:cs typeface="Codec Pro"/>
                <a:sym typeface="Codec Pro"/>
              </a:rPr>
              <a:t>During training we randomly flip the images and rotate</a:t>
            </a:r>
          </a:p>
          <a:p>
            <a:pPr algn="l" marL="1339861" indent="-446620" lvl="2">
              <a:lnSpc>
                <a:spcPts val="4344"/>
              </a:lnSpc>
              <a:buFont typeface="Arial"/>
              <a:buChar char="⚬"/>
            </a:pPr>
            <a:r>
              <a:rPr lang="en-US" sz="3102">
                <a:solidFill>
                  <a:srgbClr val="00204B"/>
                </a:solidFill>
                <a:latin typeface="Codec Pro"/>
                <a:ea typeface="Codec Pro"/>
                <a:cs typeface="Codec Pro"/>
                <a:sym typeface="Codec Pro"/>
              </a:rPr>
              <a:t>We also oversample Parkinsons images because there are less data points</a:t>
            </a:r>
          </a:p>
          <a:p>
            <a:pPr algn="l" marL="669931" indent="-334965" lvl="1">
              <a:lnSpc>
                <a:spcPts val="4344"/>
              </a:lnSpc>
              <a:buFont typeface="Arial"/>
              <a:buChar char="•"/>
            </a:pPr>
            <a:r>
              <a:rPr lang="en-US" sz="3102">
                <a:solidFill>
                  <a:srgbClr val="00204B"/>
                </a:solidFill>
                <a:latin typeface="Codec Pro"/>
                <a:ea typeface="Codec Pro"/>
                <a:cs typeface="Codec Pro"/>
                <a:sym typeface="Codec Pro"/>
              </a:rPr>
              <a:t>We’ll refer to those datasets as </a:t>
            </a:r>
            <a:r>
              <a:rPr lang="en-US" b="true" sz="3102">
                <a:solidFill>
                  <a:srgbClr val="00204B"/>
                </a:solidFill>
                <a:latin typeface="Codec Pro Bold"/>
                <a:ea typeface="Codec Pro Bold"/>
                <a:cs typeface="Codec Pro Bold"/>
                <a:sym typeface="Codec Pro Bold"/>
              </a:rPr>
              <a:t>original</a:t>
            </a:r>
            <a:r>
              <a:rPr lang="en-US" sz="3102">
                <a:solidFill>
                  <a:srgbClr val="00204B"/>
                </a:solidFill>
                <a:latin typeface="Codec Pro"/>
                <a:ea typeface="Codec Pro"/>
                <a:cs typeface="Codec Pro"/>
                <a:sym typeface="Codec Pro"/>
              </a:rPr>
              <a:t> and </a:t>
            </a:r>
            <a:r>
              <a:rPr lang="en-US" b="true" sz="3102">
                <a:solidFill>
                  <a:srgbClr val="00204B"/>
                </a:solidFill>
                <a:latin typeface="Codec Pro Bold"/>
                <a:ea typeface="Codec Pro Bold"/>
                <a:cs typeface="Codec Pro Bold"/>
                <a:sym typeface="Codec Pro Bold"/>
              </a:rPr>
              <a:t>augmented </a:t>
            </a:r>
            <a:r>
              <a:rPr lang="en-US" sz="3102">
                <a:solidFill>
                  <a:srgbClr val="00204B"/>
                </a:solidFill>
                <a:latin typeface="Codec Pro"/>
                <a:ea typeface="Codec Pro"/>
                <a:cs typeface="Codec Pro"/>
                <a:sym typeface="Codec Pro"/>
              </a:rPr>
              <a:t>because some experiments were ran before the augmented set</a:t>
            </a:r>
          </a:p>
          <a:p>
            <a:pPr algn="l">
              <a:lnSpc>
                <a:spcPts val="4344"/>
              </a:lnSpc>
              <a:spcBef>
                <a:spcPct val="0"/>
              </a:spcBef>
            </a:pPr>
          </a:p>
        </p:txBody>
      </p:sp>
      <p:sp>
        <p:nvSpPr>
          <p:cNvPr name="TextBox 6" id="6"/>
          <p:cNvSpPr txBox="true"/>
          <p:nvPr/>
        </p:nvSpPr>
        <p:spPr>
          <a:xfrm rot="0">
            <a:off x="1028700" y="914400"/>
            <a:ext cx="17481908" cy="1027472"/>
          </a:xfrm>
          <a:prstGeom prst="rect">
            <a:avLst/>
          </a:prstGeom>
        </p:spPr>
        <p:txBody>
          <a:bodyPr anchor="t" rtlCol="false" tIns="0" lIns="0" bIns="0" rIns="0">
            <a:spAutoFit/>
          </a:bodyPr>
          <a:lstStyle/>
          <a:p>
            <a:pPr algn="l">
              <a:lnSpc>
                <a:spcPts val="8467"/>
              </a:lnSpc>
              <a:spcBef>
                <a:spcPct val="0"/>
              </a:spcBef>
            </a:pPr>
            <a:r>
              <a:rPr lang="en-US" sz="6048">
                <a:solidFill>
                  <a:srgbClr val="000000"/>
                </a:solidFill>
                <a:latin typeface="League Spartan"/>
                <a:ea typeface="League Spartan"/>
                <a:cs typeface="League Spartan"/>
                <a:sym typeface="League Spartan"/>
              </a:rPr>
              <a:t>Preprocessing Mishap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662433" y="607346"/>
            <a:ext cx="12547951" cy="2186692"/>
          </a:xfrm>
          <a:prstGeom prst="rect">
            <a:avLst/>
          </a:prstGeom>
        </p:spPr>
        <p:txBody>
          <a:bodyPr anchor="t" rtlCol="false" tIns="0" lIns="0" bIns="0" rIns="0">
            <a:spAutoFit/>
          </a:bodyPr>
          <a:lstStyle/>
          <a:p>
            <a:pPr algn="l">
              <a:lnSpc>
                <a:spcPts val="8418"/>
              </a:lnSpc>
            </a:pPr>
            <a:r>
              <a:rPr lang="en-US" sz="8590">
                <a:solidFill>
                  <a:srgbClr val="FFFFFF"/>
                </a:solidFill>
                <a:latin typeface="League Spartan"/>
                <a:ea typeface="League Spartan"/>
                <a:cs typeface="League Spartan"/>
                <a:sym typeface="League Spartan"/>
              </a:rPr>
              <a:t>Feedforward Model - our baseline</a:t>
            </a:r>
          </a:p>
        </p:txBody>
      </p:sp>
      <p:sp>
        <p:nvSpPr>
          <p:cNvPr name="TextBox 4" id="4"/>
          <p:cNvSpPr txBox="true"/>
          <p:nvPr/>
        </p:nvSpPr>
        <p:spPr>
          <a:xfrm rot="0">
            <a:off x="400595" y="2455376"/>
            <a:ext cx="12283106" cy="8217621"/>
          </a:xfrm>
          <a:prstGeom prst="rect">
            <a:avLst/>
          </a:prstGeom>
        </p:spPr>
        <p:txBody>
          <a:bodyPr anchor="t" rtlCol="false" tIns="0" lIns="0" bIns="0" rIns="0">
            <a:spAutoFit/>
          </a:bodyPr>
          <a:lstStyle/>
          <a:p>
            <a:pPr algn="l">
              <a:lnSpc>
                <a:spcPts val="3285"/>
              </a:lnSpc>
            </a:pPr>
            <a:r>
              <a:rPr lang="en-US" sz="2346" b="true">
                <a:solidFill>
                  <a:srgbClr val="FFFFFF"/>
                </a:solidFill>
                <a:latin typeface="Codec Pro Bold"/>
                <a:ea typeface="Codec Pro Bold"/>
                <a:cs typeface="Codec Pro Bold"/>
                <a:sym typeface="Codec Pro Bold"/>
              </a:rPr>
              <a:t>Why we started with feedforward:</a:t>
            </a:r>
          </a:p>
          <a:p>
            <a:pPr algn="l" marL="506634" indent="-253317" lvl="1">
              <a:lnSpc>
                <a:spcPts val="3285"/>
              </a:lnSpc>
              <a:buFont typeface="Arial"/>
              <a:buChar char="•"/>
            </a:pPr>
            <a:r>
              <a:rPr lang="en-US" b="true" sz="2346">
                <a:solidFill>
                  <a:srgbClr val="FFFFFF"/>
                </a:solidFill>
                <a:latin typeface="Codec Pro Bold"/>
                <a:ea typeface="Codec Pro Bold"/>
                <a:cs typeface="Codec Pro Bold"/>
                <a:sym typeface="Codec Pro Bold"/>
              </a:rPr>
              <a:t>Simplicity</a:t>
            </a:r>
          </a:p>
          <a:p>
            <a:pPr algn="l" marL="1013268" indent="-337756" lvl="2">
              <a:lnSpc>
                <a:spcPts val="3285"/>
              </a:lnSpc>
              <a:buFont typeface="Arial"/>
              <a:buChar char="⚬"/>
            </a:pPr>
            <a:r>
              <a:rPr lang="en-US" b="true" sz="2346">
                <a:solidFill>
                  <a:srgbClr val="FFFFFF"/>
                </a:solidFill>
                <a:latin typeface="Codec Pro Bold"/>
                <a:ea typeface="Codec Pro Bold"/>
                <a:cs typeface="Codec Pro Bold"/>
                <a:sym typeface="Codec Pro Bold"/>
              </a:rPr>
              <a:t>A good starting point before exploring more complex architectures</a:t>
            </a:r>
          </a:p>
          <a:p>
            <a:pPr algn="l" marL="506634" indent="-253317" lvl="1">
              <a:lnSpc>
                <a:spcPts val="3285"/>
              </a:lnSpc>
              <a:buFont typeface="Arial"/>
              <a:buChar char="•"/>
            </a:pPr>
            <a:r>
              <a:rPr lang="en-US" b="true" sz="2346">
                <a:solidFill>
                  <a:srgbClr val="FFFFFF"/>
                </a:solidFill>
                <a:latin typeface="Codec Pro Bold"/>
                <a:ea typeface="Codec Pro Bold"/>
                <a:cs typeface="Codec Pro Bold"/>
                <a:sym typeface="Codec Pro Bold"/>
              </a:rPr>
              <a:t>Baseline Model: </a:t>
            </a:r>
          </a:p>
          <a:p>
            <a:pPr algn="l" marL="1013268" indent="-337756" lvl="2">
              <a:lnSpc>
                <a:spcPts val="3285"/>
              </a:lnSpc>
              <a:buFont typeface="Arial"/>
              <a:buChar char="⚬"/>
            </a:pPr>
            <a:r>
              <a:rPr lang="en-US" b="true" sz="2346">
                <a:solidFill>
                  <a:srgbClr val="FFFFFF"/>
                </a:solidFill>
                <a:latin typeface="Codec Pro Bold"/>
                <a:ea typeface="Codec Pro Bold"/>
                <a:cs typeface="Codec Pro Bold"/>
                <a:sym typeface="Codec Pro Bold"/>
              </a:rPr>
              <a:t>Served as our performance benchmark</a:t>
            </a:r>
          </a:p>
          <a:p>
            <a:pPr algn="l" marL="506634" indent="-253317" lvl="1">
              <a:lnSpc>
                <a:spcPts val="3285"/>
              </a:lnSpc>
              <a:buFont typeface="Arial"/>
              <a:buChar char="•"/>
            </a:pPr>
            <a:r>
              <a:rPr lang="en-US" b="true" sz="2346">
                <a:solidFill>
                  <a:srgbClr val="FFFFFF"/>
                </a:solidFill>
                <a:latin typeface="Codec Pro Bold"/>
                <a:ea typeface="Codec Pro Bold"/>
                <a:cs typeface="Codec Pro Bold"/>
                <a:sym typeface="Codec Pro Bold"/>
              </a:rPr>
              <a:t>Computational efficiency</a:t>
            </a:r>
          </a:p>
          <a:p>
            <a:pPr algn="l" marL="1013268" indent="-337756" lvl="2">
              <a:lnSpc>
                <a:spcPts val="3285"/>
              </a:lnSpc>
              <a:buFont typeface="Arial"/>
              <a:buChar char="⚬"/>
            </a:pPr>
            <a:r>
              <a:rPr lang="en-US" b="true" sz="2346">
                <a:solidFill>
                  <a:srgbClr val="FFFFFF"/>
                </a:solidFill>
                <a:latin typeface="Codec Pro Bold"/>
                <a:ea typeface="Codec Pro Bold"/>
                <a:cs typeface="Codec Pro Bold"/>
                <a:sym typeface="Codec Pro Bold"/>
              </a:rPr>
              <a:t>faster training compared to CNN</a:t>
            </a:r>
          </a:p>
          <a:p>
            <a:pPr algn="l" marL="506634" indent="-253317" lvl="1">
              <a:lnSpc>
                <a:spcPts val="3285"/>
              </a:lnSpc>
              <a:buFont typeface="Arial"/>
              <a:buChar char="•"/>
            </a:pPr>
            <a:r>
              <a:rPr lang="en-US" b="true" sz="2346">
                <a:solidFill>
                  <a:srgbClr val="FFFFFF"/>
                </a:solidFill>
                <a:latin typeface="Codec Pro Bold"/>
                <a:ea typeface="Codec Pro Bold"/>
                <a:cs typeface="Codec Pro Bold"/>
                <a:sym typeface="Codec Pro Bold"/>
              </a:rPr>
              <a:t>For all our developed models:</a:t>
            </a:r>
          </a:p>
          <a:p>
            <a:pPr algn="l" marL="1013268" indent="-337756" lvl="2">
              <a:lnSpc>
                <a:spcPts val="3285"/>
              </a:lnSpc>
              <a:buFont typeface="Arial"/>
              <a:buChar char="⚬"/>
            </a:pPr>
            <a:r>
              <a:rPr lang="en-US" b="true" sz="2346">
                <a:solidFill>
                  <a:srgbClr val="FFFFFF"/>
                </a:solidFill>
                <a:latin typeface="Codec Pro Bold"/>
                <a:ea typeface="Codec Pro Bold"/>
                <a:cs typeface="Codec Pro Bold"/>
                <a:sym typeface="Codec Pro Bold"/>
              </a:rPr>
              <a:t>W</a:t>
            </a:r>
            <a:r>
              <a:rPr lang="en-US" b="true" sz="2346">
                <a:solidFill>
                  <a:srgbClr val="FFFFFF"/>
                </a:solidFill>
                <a:latin typeface="Codec Pro Bold"/>
                <a:ea typeface="Codec Pro Bold"/>
                <a:cs typeface="Codec Pro Bold"/>
                <a:sym typeface="Codec Pro Bold"/>
              </a:rPr>
              <a:t>e used cross entropy loss because it’s good for multi-class classification</a:t>
            </a:r>
          </a:p>
          <a:p>
            <a:pPr algn="l" marL="1013268" indent="-337756" lvl="2">
              <a:lnSpc>
                <a:spcPts val="3285"/>
              </a:lnSpc>
              <a:buFont typeface="Arial"/>
              <a:buChar char="⚬"/>
            </a:pPr>
            <a:r>
              <a:rPr lang="en-US" b="true" sz="2346">
                <a:solidFill>
                  <a:srgbClr val="FFFFFF"/>
                </a:solidFill>
                <a:latin typeface="Codec Pro Bold"/>
                <a:ea typeface="Codec Pro Bold"/>
                <a:cs typeface="Codec Pro Bold"/>
                <a:sym typeface="Codec Pro Bold"/>
              </a:rPr>
              <a:t>We also made the output layer use softmax with 3 values</a:t>
            </a:r>
          </a:p>
          <a:p>
            <a:pPr algn="l">
              <a:lnSpc>
                <a:spcPts val="3285"/>
              </a:lnSpc>
            </a:pPr>
            <a:r>
              <a:rPr lang="en-US" sz="2346">
                <a:solidFill>
                  <a:srgbClr val="FFFFFF"/>
                </a:solidFill>
                <a:latin typeface="Codec Pro"/>
                <a:ea typeface="Codec Pro"/>
                <a:cs typeface="Codec Pro"/>
                <a:sym typeface="Codec Pro"/>
              </a:rPr>
              <a:t>Architecture:</a:t>
            </a:r>
          </a:p>
          <a:p>
            <a:pPr algn="l" marL="506634" indent="-253317" lvl="1">
              <a:lnSpc>
                <a:spcPts val="3285"/>
              </a:lnSpc>
              <a:buFont typeface="Arial"/>
              <a:buChar char="•"/>
            </a:pPr>
            <a:r>
              <a:rPr lang="en-US" sz="2346">
                <a:solidFill>
                  <a:srgbClr val="FFFFFF"/>
                </a:solidFill>
                <a:latin typeface="Codec Pro"/>
                <a:ea typeface="Codec Pro"/>
                <a:cs typeface="Codec Pro"/>
                <a:sym typeface="Codec Pro"/>
              </a:rPr>
              <a:t>Flattened layer: takes in 128 x128 flattened MRI images (original dataset as input)</a:t>
            </a:r>
          </a:p>
          <a:p>
            <a:pPr algn="l" marL="506634" indent="-253317" lvl="1">
              <a:lnSpc>
                <a:spcPts val="3285"/>
              </a:lnSpc>
              <a:buFont typeface="Arial"/>
              <a:buChar char="•"/>
            </a:pPr>
            <a:r>
              <a:rPr lang="en-US" sz="2346">
                <a:solidFill>
                  <a:srgbClr val="FFFFFF"/>
                </a:solidFill>
                <a:latin typeface="Codec Pro"/>
                <a:ea typeface="Codec Pro"/>
                <a:cs typeface="Codec Pro"/>
                <a:sym typeface="Codec Pro"/>
              </a:rPr>
              <a:t>Three hidden layers: 512 neurons (ReLU) -&gt; 256 neurons (ReLU) -&gt; 128 neurons (ReLU)</a:t>
            </a:r>
          </a:p>
          <a:p>
            <a:pPr algn="l" marL="506634" indent="-253317" lvl="1">
              <a:lnSpc>
                <a:spcPts val="3285"/>
              </a:lnSpc>
              <a:buFont typeface="Arial"/>
              <a:buChar char="•"/>
            </a:pPr>
            <a:r>
              <a:rPr lang="en-US" sz="2346">
                <a:solidFill>
                  <a:srgbClr val="FFFFFF"/>
                </a:solidFill>
                <a:latin typeface="Codec Pro"/>
                <a:ea typeface="Codec Pro"/>
                <a:cs typeface="Codec Pro"/>
                <a:sym typeface="Codec Pro"/>
              </a:rPr>
              <a:t>Output layer: fully connected layer with soft-max activation for multi-class classification</a:t>
            </a:r>
          </a:p>
          <a:p>
            <a:pPr algn="l" marL="506634" indent="-253317" lvl="1">
              <a:lnSpc>
                <a:spcPts val="3285"/>
              </a:lnSpc>
              <a:buFont typeface="Arial"/>
              <a:buChar char="•"/>
            </a:pPr>
            <a:r>
              <a:rPr lang="en-US" sz="2346">
                <a:solidFill>
                  <a:srgbClr val="FFFFFF"/>
                </a:solidFill>
                <a:latin typeface="Codec Pro"/>
                <a:ea typeface="Codec Pro"/>
                <a:cs typeface="Codec Pro"/>
                <a:sym typeface="Codec Pro"/>
              </a:rPr>
              <a:t>Loss function: cross entropy loss : well suited for multi-class classification</a:t>
            </a:r>
          </a:p>
          <a:p>
            <a:pPr algn="l" marL="506634" indent="-253317" lvl="1">
              <a:lnSpc>
                <a:spcPts val="3285"/>
              </a:lnSpc>
              <a:buFont typeface="Arial"/>
              <a:buChar char="•"/>
            </a:pPr>
            <a:r>
              <a:rPr lang="en-US" sz="2346">
                <a:solidFill>
                  <a:srgbClr val="FFFFFF"/>
                </a:solidFill>
                <a:latin typeface="Codec Pro"/>
                <a:ea typeface="Codec Pro"/>
                <a:cs typeface="Codec Pro"/>
                <a:sym typeface="Codec Pro"/>
              </a:rPr>
              <a:t>Adam optimizer: effective for medical imaging since data can be unbalanced. learning rate 0.001</a:t>
            </a:r>
          </a:p>
          <a:p>
            <a:pPr algn="l">
              <a:lnSpc>
                <a:spcPts val="3285"/>
              </a:lnSpc>
              <a:spcBef>
                <a:spcPct val="0"/>
              </a:spcBef>
            </a:pPr>
          </a:p>
        </p:txBody>
      </p:sp>
      <p:sp>
        <p:nvSpPr>
          <p:cNvPr name="Freeform 5" id="5"/>
          <p:cNvSpPr/>
          <p:nvPr/>
        </p:nvSpPr>
        <p:spPr>
          <a:xfrm flipH="false" flipV="false" rot="0">
            <a:off x="16416515" y="8832335"/>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2566591">
            <a:off x="11211045" y="3136969"/>
            <a:ext cx="11421234" cy="8780073"/>
          </a:xfrm>
          <a:custGeom>
            <a:avLst/>
            <a:gdLst/>
            <a:ahLst/>
            <a:cxnLst/>
            <a:rect r="r" b="b" t="t" l="l"/>
            <a:pathLst>
              <a:path h="8780073" w="11421234">
                <a:moveTo>
                  <a:pt x="0" y="0"/>
                </a:moveTo>
                <a:lnTo>
                  <a:pt x="11421234" y="0"/>
                </a:lnTo>
                <a:lnTo>
                  <a:pt x="11421234" y="8780073"/>
                </a:lnTo>
                <a:lnTo>
                  <a:pt x="0" y="8780073"/>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0147515" y="1750859"/>
            <a:ext cx="7912866" cy="6785283"/>
          </a:xfrm>
          <a:custGeom>
            <a:avLst/>
            <a:gdLst/>
            <a:ahLst/>
            <a:cxnLst/>
            <a:rect r="r" b="b" t="t" l="l"/>
            <a:pathLst>
              <a:path h="6785283" w="7912866">
                <a:moveTo>
                  <a:pt x="0" y="0"/>
                </a:moveTo>
                <a:lnTo>
                  <a:pt x="7912867" y="0"/>
                </a:lnTo>
                <a:lnTo>
                  <a:pt x="7912867" y="6785282"/>
                </a:lnTo>
                <a:lnTo>
                  <a:pt x="0" y="6785282"/>
                </a:lnTo>
                <a:lnTo>
                  <a:pt x="0" y="0"/>
                </a:lnTo>
                <a:close/>
              </a:path>
            </a:pathLst>
          </a:custGeom>
          <a:blipFill>
            <a:blip r:embed="rId9"/>
            <a:stretch>
              <a:fillRect l="0" t="0" r="0" b="0"/>
            </a:stretch>
          </a:blipFill>
        </p:spPr>
      </p:sp>
      <p:sp>
        <p:nvSpPr>
          <p:cNvPr name="TextBox 6" id="6"/>
          <p:cNvSpPr txBox="true"/>
          <p:nvPr/>
        </p:nvSpPr>
        <p:spPr>
          <a:xfrm rot="0">
            <a:off x="1291622" y="1733275"/>
            <a:ext cx="8855893" cy="4851153"/>
          </a:xfrm>
          <a:prstGeom prst="rect">
            <a:avLst/>
          </a:prstGeom>
        </p:spPr>
        <p:txBody>
          <a:bodyPr anchor="t" rtlCol="false" tIns="0" lIns="0" bIns="0" rIns="0">
            <a:spAutoFit/>
          </a:bodyPr>
          <a:lstStyle/>
          <a:p>
            <a:pPr algn="l" marL="460889" indent="-230444" lvl="1">
              <a:lnSpc>
                <a:spcPts val="2988"/>
              </a:lnSpc>
              <a:buFont typeface="Arial"/>
              <a:buChar char="•"/>
            </a:pPr>
            <a:r>
              <a:rPr lang="en-US" b="true" sz="2134">
                <a:solidFill>
                  <a:srgbClr val="00204B"/>
                </a:solidFill>
                <a:latin typeface="Codec Pro Bold"/>
                <a:ea typeface="Codec Pro Bold"/>
                <a:cs typeface="Codec Pro Bold"/>
                <a:sym typeface="Codec Pro Bold"/>
              </a:rPr>
              <a:t>Accuracy: 92.03%</a:t>
            </a:r>
          </a:p>
          <a:p>
            <a:pPr algn="l" marL="460889" indent="-230444" lvl="1">
              <a:lnSpc>
                <a:spcPts val="2988"/>
              </a:lnSpc>
              <a:buFont typeface="Arial"/>
              <a:buChar char="•"/>
            </a:pPr>
            <a:r>
              <a:rPr lang="en-US" sz="2134">
                <a:solidFill>
                  <a:srgbClr val="00204B"/>
                </a:solidFill>
                <a:latin typeface="Codec Pro"/>
                <a:ea typeface="Codec Pro"/>
                <a:cs typeface="Codec Pro"/>
                <a:sym typeface="Codec Pro"/>
              </a:rPr>
              <a:t>Loss: 0.1961</a:t>
            </a:r>
          </a:p>
          <a:p>
            <a:pPr algn="l" marL="460889" indent="-230444" lvl="1">
              <a:lnSpc>
                <a:spcPts val="2988"/>
              </a:lnSpc>
              <a:buFont typeface="Arial"/>
              <a:buChar char="•"/>
            </a:pPr>
            <a:r>
              <a:rPr lang="en-US" b="true" sz="2134">
                <a:solidFill>
                  <a:srgbClr val="00204B"/>
                </a:solidFill>
                <a:latin typeface="Codec Pro Bold"/>
                <a:ea typeface="Codec Pro Bold"/>
                <a:cs typeface="Codec Pro Bold"/>
                <a:sym typeface="Codec Pro Bold"/>
              </a:rPr>
              <a:t>Original Data</a:t>
            </a:r>
          </a:p>
          <a:p>
            <a:pPr algn="l">
              <a:lnSpc>
                <a:spcPts val="2988"/>
              </a:lnSpc>
            </a:pPr>
          </a:p>
          <a:p>
            <a:pPr algn="l" marL="460889" indent="-230444" lvl="1">
              <a:lnSpc>
                <a:spcPts val="2988"/>
              </a:lnSpc>
              <a:buFont typeface="Arial"/>
              <a:buChar char="•"/>
            </a:pPr>
            <a:r>
              <a:rPr lang="en-US" sz="2134">
                <a:solidFill>
                  <a:srgbClr val="00204B"/>
                </a:solidFill>
                <a:latin typeface="Codec Pro"/>
                <a:ea typeface="Codec Pro"/>
                <a:cs typeface="Codec Pro"/>
                <a:sym typeface="Codec Pro"/>
              </a:rPr>
              <a:t>Tensor board with PCA for our feedforward network</a:t>
            </a:r>
          </a:p>
          <a:p>
            <a:pPr algn="l" marL="921777" indent="-307259" lvl="2">
              <a:lnSpc>
                <a:spcPts val="2988"/>
              </a:lnSpc>
              <a:buFont typeface="Arial"/>
              <a:buChar char="⚬"/>
            </a:pPr>
            <a:r>
              <a:rPr lang="en-US" sz="2134">
                <a:solidFill>
                  <a:srgbClr val="00204B"/>
                </a:solidFill>
                <a:latin typeface="Codec Pro"/>
                <a:ea typeface="Codec Pro"/>
                <a:cs typeface="Codec Pro"/>
                <a:sym typeface="Codec Pro"/>
              </a:rPr>
              <a:t>pink - Parkinson’s</a:t>
            </a:r>
          </a:p>
          <a:p>
            <a:pPr algn="l" marL="921777" indent="-307259" lvl="2">
              <a:lnSpc>
                <a:spcPts val="2988"/>
              </a:lnSpc>
              <a:buFont typeface="Arial"/>
              <a:buChar char="⚬"/>
            </a:pPr>
            <a:r>
              <a:rPr lang="en-US" sz="2134">
                <a:solidFill>
                  <a:srgbClr val="00204B"/>
                </a:solidFill>
                <a:latin typeface="Codec Pro"/>
                <a:ea typeface="Codec Pro"/>
                <a:cs typeface="Codec Pro"/>
                <a:sym typeface="Codec Pro"/>
              </a:rPr>
              <a:t>red - normal</a:t>
            </a:r>
          </a:p>
          <a:p>
            <a:pPr algn="l" marL="921777" indent="-307259" lvl="2">
              <a:lnSpc>
                <a:spcPts val="2988"/>
              </a:lnSpc>
              <a:buFont typeface="Arial"/>
              <a:buChar char="⚬"/>
            </a:pPr>
            <a:r>
              <a:rPr lang="en-US" sz="2134">
                <a:solidFill>
                  <a:srgbClr val="00204B"/>
                </a:solidFill>
                <a:latin typeface="Codec Pro"/>
                <a:ea typeface="Codec Pro"/>
                <a:cs typeface="Codec Pro"/>
                <a:sym typeface="Codec Pro"/>
              </a:rPr>
              <a:t>blue - Alzheimer's</a:t>
            </a:r>
          </a:p>
          <a:p>
            <a:pPr algn="l" marL="460889" indent="-230444" lvl="1">
              <a:lnSpc>
                <a:spcPts val="2988"/>
              </a:lnSpc>
              <a:buFont typeface="Arial"/>
              <a:buChar char="•"/>
            </a:pPr>
            <a:r>
              <a:rPr lang="en-US" sz="2134">
                <a:solidFill>
                  <a:srgbClr val="00204B"/>
                </a:solidFill>
                <a:latin typeface="Codec Pro"/>
                <a:ea typeface="Codec Pro"/>
                <a:cs typeface="Codec Pro"/>
                <a:sym typeface="Codec Pro"/>
              </a:rPr>
              <a:t>We can see Parkinson’s was clearly separated but there were a few Parkinson’s images that were close to the normal and Alzheimer’s</a:t>
            </a:r>
          </a:p>
          <a:p>
            <a:pPr algn="l" marL="921777" indent="-307259" lvl="2">
              <a:lnSpc>
                <a:spcPts val="2988"/>
              </a:lnSpc>
              <a:spcBef>
                <a:spcPct val="0"/>
              </a:spcBef>
              <a:buFont typeface="Arial"/>
              <a:buChar char="⚬"/>
            </a:pPr>
            <a:r>
              <a:rPr lang="en-US" b="true" sz="2134">
                <a:solidFill>
                  <a:srgbClr val="00204B"/>
                </a:solidFill>
                <a:latin typeface="Codec Pro Bold"/>
                <a:ea typeface="Codec Pro Bold"/>
                <a:cs typeface="Codec Pro Bold"/>
                <a:sym typeface="Codec Pro Bold"/>
              </a:rPr>
              <a:t>We can also see that Normal and Alzheimer’s had some overlap but majority was clustered separately</a:t>
            </a:r>
          </a:p>
        </p:txBody>
      </p:sp>
      <p:sp>
        <p:nvSpPr>
          <p:cNvPr name="TextBox 7" id="7"/>
          <p:cNvSpPr txBox="true"/>
          <p:nvPr/>
        </p:nvSpPr>
        <p:spPr>
          <a:xfrm rot="0">
            <a:off x="1291622" y="642493"/>
            <a:ext cx="13118656"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Feedforward v1 Results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543857" y="642493"/>
            <a:ext cx="15640389"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Feedforward model- 2nd iteration</a:t>
            </a:r>
          </a:p>
        </p:txBody>
      </p:sp>
      <p:sp>
        <p:nvSpPr>
          <p:cNvPr name="TextBox 6" id="6"/>
          <p:cNvSpPr txBox="true"/>
          <p:nvPr/>
        </p:nvSpPr>
        <p:spPr>
          <a:xfrm rot="0">
            <a:off x="2559381" y="1250591"/>
            <a:ext cx="15272240" cy="4221817"/>
          </a:xfrm>
          <a:prstGeom prst="rect">
            <a:avLst/>
          </a:prstGeom>
        </p:spPr>
        <p:txBody>
          <a:bodyPr anchor="t" rtlCol="false" tIns="0" lIns="0" bIns="0" rIns="0">
            <a:spAutoFit/>
          </a:bodyPr>
          <a:lstStyle/>
          <a:p>
            <a:pPr algn="l" marL="466720" indent="-233360" lvl="1">
              <a:lnSpc>
                <a:spcPts val="3026"/>
              </a:lnSpc>
              <a:buFont typeface="Arial"/>
              <a:buChar char="•"/>
            </a:pPr>
            <a:r>
              <a:rPr lang="en-US" b="true" sz="2161">
                <a:solidFill>
                  <a:srgbClr val="00204B"/>
                </a:solidFill>
                <a:latin typeface="Codec Pro Bold"/>
                <a:ea typeface="Codec Pro Bold"/>
                <a:cs typeface="Codec Pro Bold"/>
                <a:sym typeface="Codec Pro Bold"/>
              </a:rPr>
              <a:t>Trained on augmented data</a:t>
            </a:r>
          </a:p>
          <a:p>
            <a:pPr algn="l" marL="933439" indent="-311146" lvl="2">
              <a:lnSpc>
                <a:spcPts val="3026"/>
              </a:lnSpc>
              <a:buFont typeface="Arial"/>
              <a:buChar char="⚬"/>
            </a:pPr>
            <a:r>
              <a:rPr lang="en-US" sz="2161">
                <a:solidFill>
                  <a:srgbClr val="00204B"/>
                </a:solidFill>
                <a:latin typeface="Codec Pro"/>
                <a:ea typeface="Codec Pro"/>
                <a:cs typeface="Codec Pro"/>
                <a:sym typeface="Codec Pro"/>
              </a:rPr>
              <a:t>to increase generalization</a:t>
            </a:r>
          </a:p>
          <a:p>
            <a:pPr algn="l" marL="933439" indent="-311146" lvl="2">
              <a:lnSpc>
                <a:spcPts val="3026"/>
              </a:lnSpc>
              <a:buFont typeface="Arial"/>
              <a:buChar char="⚬"/>
            </a:pPr>
            <a:r>
              <a:rPr lang="en-US" b="true" sz="2161">
                <a:solidFill>
                  <a:srgbClr val="00204B"/>
                </a:solidFill>
                <a:latin typeface="Codec Pro Bold"/>
                <a:ea typeface="Codec Pro Bold"/>
                <a:cs typeface="Codec Pro Bold"/>
                <a:sym typeface="Codec Pro Bold"/>
              </a:rPr>
              <a:t>got a baseline for the new augmented set of data</a:t>
            </a:r>
          </a:p>
          <a:p>
            <a:pPr algn="l" marL="466720" indent="-233360" lvl="1">
              <a:lnSpc>
                <a:spcPts val="3026"/>
              </a:lnSpc>
              <a:buFont typeface="Arial"/>
              <a:buChar char="•"/>
            </a:pPr>
            <a:r>
              <a:rPr lang="en-US" b="true" sz="2161">
                <a:solidFill>
                  <a:srgbClr val="00204B"/>
                </a:solidFill>
                <a:latin typeface="Codec Pro Bold"/>
                <a:ea typeface="Codec Pro Bold"/>
                <a:cs typeface="Codec Pro Bold"/>
                <a:sym typeface="Codec Pro Bold"/>
              </a:rPr>
              <a:t>Achieved 77% accuracy, plateaued after 50 epochs</a:t>
            </a:r>
          </a:p>
          <a:p>
            <a:pPr algn="l" marL="466720" indent="-233360" lvl="1">
              <a:lnSpc>
                <a:spcPts val="3026"/>
              </a:lnSpc>
              <a:buFont typeface="Arial"/>
              <a:buChar char="•"/>
            </a:pPr>
            <a:r>
              <a:rPr lang="en-US" b="true" sz="2161">
                <a:solidFill>
                  <a:srgbClr val="00204B"/>
                </a:solidFill>
                <a:latin typeface="Codec Pro Bold"/>
                <a:ea typeface="Codec Pro Bold"/>
                <a:cs typeface="Codec Pro Bold"/>
                <a:sym typeface="Codec Pro Bold"/>
              </a:rPr>
              <a:t>Architecture:</a:t>
            </a:r>
          </a:p>
          <a:p>
            <a:pPr algn="l" marL="933439" indent="-311146" lvl="2">
              <a:lnSpc>
                <a:spcPts val="3026"/>
              </a:lnSpc>
              <a:buFont typeface="Arial"/>
              <a:buChar char="⚬"/>
            </a:pPr>
            <a:r>
              <a:rPr lang="en-US" b="true" sz="2161">
                <a:solidFill>
                  <a:srgbClr val="00204B"/>
                </a:solidFill>
                <a:latin typeface="Codec Pro Bold"/>
                <a:ea typeface="Codec Pro Bold"/>
                <a:cs typeface="Codec Pro Bold"/>
                <a:sym typeface="Codec Pro Bold"/>
              </a:rPr>
              <a:t>Same as baseline model, only changed inputs</a:t>
            </a:r>
          </a:p>
          <a:p>
            <a:pPr algn="l" marL="466720" indent="-233360" lvl="1">
              <a:lnSpc>
                <a:spcPts val="3026"/>
              </a:lnSpc>
              <a:buFont typeface="Arial"/>
              <a:buChar char="•"/>
            </a:pPr>
            <a:r>
              <a:rPr lang="en-US" sz="2161">
                <a:solidFill>
                  <a:srgbClr val="00204B"/>
                </a:solidFill>
                <a:latin typeface="Codec Pro"/>
                <a:ea typeface="Codec Pro"/>
                <a:cs typeface="Codec Pro"/>
                <a:sym typeface="Codec Pro"/>
              </a:rPr>
              <a:t>Confusion matrix</a:t>
            </a:r>
          </a:p>
          <a:p>
            <a:pPr algn="l" marL="933439" indent="-311146" lvl="2">
              <a:lnSpc>
                <a:spcPts val="3026"/>
              </a:lnSpc>
              <a:buFont typeface="Arial"/>
              <a:buChar char="⚬"/>
            </a:pPr>
            <a:r>
              <a:rPr lang="en-US" sz="2161">
                <a:solidFill>
                  <a:srgbClr val="00204B"/>
                </a:solidFill>
                <a:latin typeface="Codec Pro"/>
                <a:ea typeface="Codec Pro"/>
                <a:cs typeface="Codec Pro"/>
                <a:sym typeface="Codec Pro"/>
              </a:rPr>
              <a:t>misclassified normal and alzheimer's 201 and 376 times</a:t>
            </a:r>
          </a:p>
          <a:p>
            <a:pPr algn="l" marL="933439" indent="-311146" lvl="2">
              <a:lnSpc>
                <a:spcPts val="3026"/>
              </a:lnSpc>
              <a:buFont typeface="Arial"/>
              <a:buChar char="⚬"/>
            </a:pPr>
            <a:r>
              <a:rPr lang="en-US" sz="2161">
                <a:solidFill>
                  <a:srgbClr val="00204B"/>
                </a:solidFill>
                <a:latin typeface="Codec Pro"/>
                <a:ea typeface="Codec Pro"/>
                <a:cs typeface="Codec Pro"/>
                <a:sym typeface="Codec Pro"/>
              </a:rPr>
              <a:t>misclassified normal for parkinson’s only twice</a:t>
            </a:r>
          </a:p>
          <a:p>
            <a:pPr algn="l">
              <a:lnSpc>
                <a:spcPts val="3026"/>
              </a:lnSpc>
            </a:pPr>
          </a:p>
          <a:p>
            <a:pPr algn="l">
              <a:lnSpc>
                <a:spcPts val="3026"/>
              </a:lnSpc>
              <a:spcBef>
                <a:spcPct val="0"/>
              </a:spcBef>
            </a:pPr>
          </a:p>
        </p:txBody>
      </p:sp>
      <p:pic>
        <p:nvPicPr>
          <p:cNvPr name="Picture 7" id="7">
            <a:hlinkClick action="ppaction://media"/>
          </p:cNvPr>
          <p:cNvPicPr>
            <a:picLocks noChangeAspect="true"/>
          </p:cNvPicPr>
          <p:nvPr>
            <a:videoFile r:link="rId10"/>
            <p:extLst>
              <p:ext uri="{DAA4B4D4-6D71-4841-9C94-3DE7FCFB9230}">
                <p14:media xmlns:p14="http://schemas.microsoft.com/office/powerpoint/2010/main" r:embed="rId11"/>
              </p:ext>
            </p:extLst>
          </p:nvPr>
        </p:nvPicPr>
        <p:blipFill>
          <a:blip r:embed="rId9"/>
          <a:srcRect l="29003" t="33862" r="25818" b="3755"/>
          <a:stretch>
            <a:fillRect/>
          </a:stretch>
        </p:blipFill>
        <p:spPr>
          <a:xfrm flipH="false" flipV="false" rot="0">
            <a:off x="1133845" y="4688064"/>
            <a:ext cx="6487755" cy="5598936"/>
          </a:xfrm>
          <a:prstGeom prst="rect">
            <a:avLst/>
          </a:prstGeom>
        </p:spPr>
      </p:pic>
      <p:sp>
        <p:nvSpPr>
          <p:cNvPr name="Freeform 8" id="8"/>
          <p:cNvSpPr/>
          <p:nvPr/>
        </p:nvSpPr>
        <p:spPr>
          <a:xfrm flipH="false" flipV="false" rot="0">
            <a:off x="10583967" y="4688064"/>
            <a:ext cx="6675333" cy="5598936"/>
          </a:xfrm>
          <a:custGeom>
            <a:avLst/>
            <a:gdLst/>
            <a:ahLst/>
            <a:cxnLst/>
            <a:rect r="r" b="b" t="t" l="l"/>
            <a:pathLst>
              <a:path h="5598936" w="6675333">
                <a:moveTo>
                  <a:pt x="0" y="0"/>
                </a:moveTo>
                <a:lnTo>
                  <a:pt x="6675333" y="0"/>
                </a:lnTo>
                <a:lnTo>
                  <a:pt x="6675333" y="5598936"/>
                </a:lnTo>
                <a:lnTo>
                  <a:pt x="0" y="5598936"/>
                </a:lnTo>
                <a:lnTo>
                  <a:pt x="0" y="0"/>
                </a:lnTo>
                <a:close/>
              </a:path>
            </a:pathLst>
          </a:custGeom>
          <a:blipFill>
            <a:blip r:embed="rId12"/>
            <a:stretch>
              <a:fillRect l="0" t="0" r="0" b="0"/>
            </a:stretch>
          </a:blipFill>
        </p:spPr>
      </p:sp>
    </p:spTree>
  </p:cSld>
  <p:clrMapOvr>
    <a:masterClrMapping/>
  </p:clrMapOvr>
  <p:timing>
    <p:tnLst>
      <p:par>
        <p:cTn dur="indefinite" restart="never" nodeType="tmRoot">
          <p:childTnLst>
            <p:video>
              <p:cMediaNode vol="100000">
                <p:cTn fill="hold" display="false">
                  <p:stCondLst>
                    <p:cond delay="indefinite"/>
                  </p:stCondLst>
                </p:cTn>
                <p:tgtEl>
                  <p:spTgt spid="7"/>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543857" y="642493"/>
            <a:ext cx="15640389"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Feedforward model- 3rd iteration</a:t>
            </a:r>
          </a:p>
        </p:txBody>
      </p:sp>
      <p:sp>
        <p:nvSpPr>
          <p:cNvPr name="TextBox 6" id="6"/>
          <p:cNvSpPr txBox="true"/>
          <p:nvPr/>
        </p:nvSpPr>
        <p:spPr>
          <a:xfrm rot="0">
            <a:off x="2559381" y="1250591"/>
            <a:ext cx="15272240" cy="3840817"/>
          </a:xfrm>
          <a:prstGeom prst="rect">
            <a:avLst/>
          </a:prstGeom>
        </p:spPr>
        <p:txBody>
          <a:bodyPr anchor="t" rtlCol="false" tIns="0" lIns="0" bIns="0" rIns="0">
            <a:spAutoFit/>
          </a:bodyPr>
          <a:lstStyle/>
          <a:p>
            <a:pPr algn="l" marL="466720" indent="-233360" lvl="1">
              <a:lnSpc>
                <a:spcPts val="3026"/>
              </a:lnSpc>
              <a:buFont typeface="Arial"/>
              <a:buChar char="•"/>
            </a:pPr>
            <a:r>
              <a:rPr lang="en-US" b="true" sz="2161">
                <a:solidFill>
                  <a:srgbClr val="00204B"/>
                </a:solidFill>
                <a:latin typeface="Codec Pro Bold"/>
                <a:ea typeface="Codec Pro Bold"/>
                <a:cs typeface="Codec Pro Bold"/>
                <a:sym typeface="Codec Pro Bold"/>
              </a:rPr>
              <a:t>Trained on augmented data</a:t>
            </a:r>
          </a:p>
          <a:p>
            <a:pPr algn="l" marL="466720" indent="-233360" lvl="1">
              <a:lnSpc>
                <a:spcPts val="3026"/>
              </a:lnSpc>
              <a:buFont typeface="Arial"/>
              <a:buChar char="•"/>
            </a:pPr>
            <a:r>
              <a:rPr lang="en-US" sz="2161">
                <a:solidFill>
                  <a:srgbClr val="00204B"/>
                </a:solidFill>
                <a:latin typeface="Codec Pro"/>
                <a:ea typeface="Codec Pro"/>
                <a:cs typeface="Codec Pro"/>
                <a:sym typeface="Codec Pro"/>
              </a:rPr>
              <a:t>Achieved 82% accuracy, plateaued after 50 epochs</a:t>
            </a:r>
          </a:p>
          <a:p>
            <a:pPr algn="l" marL="466720" indent="-233360" lvl="1">
              <a:lnSpc>
                <a:spcPts val="3026"/>
              </a:lnSpc>
              <a:buFont typeface="Arial"/>
              <a:buChar char="•"/>
            </a:pPr>
            <a:r>
              <a:rPr lang="en-US" sz="2161">
                <a:solidFill>
                  <a:srgbClr val="00204B"/>
                </a:solidFill>
                <a:latin typeface="Codec Pro"/>
                <a:ea typeface="Codec Pro"/>
                <a:cs typeface="Codec Pro"/>
                <a:sym typeface="Codec Pro"/>
              </a:rPr>
              <a:t>Architecture:</a:t>
            </a:r>
          </a:p>
          <a:p>
            <a:pPr algn="l" marL="933439" indent="-311146" lvl="2">
              <a:lnSpc>
                <a:spcPts val="3026"/>
              </a:lnSpc>
              <a:buFont typeface="Arial"/>
              <a:buChar char="⚬"/>
            </a:pPr>
            <a:r>
              <a:rPr lang="en-US" sz="2161">
                <a:solidFill>
                  <a:srgbClr val="00204B"/>
                </a:solidFill>
                <a:latin typeface="Codec Pro"/>
                <a:ea typeface="Codec Pro"/>
                <a:cs typeface="Codec Pro"/>
                <a:sym typeface="Codec Pro"/>
              </a:rPr>
              <a:t>We added another hidden layer at the start from 1024-&gt;512 (before was 512), as well as batch normalization and dropout (0.3) between every hidden layer</a:t>
            </a:r>
          </a:p>
          <a:p>
            <a:pPr algn="l" marL="466720" indent="-233360" lvl="1">
              <a:lnSpc>
                <a:spcPts val="3026"/>
              </a:lnSpc>
              <a:buFont typeface="Arial"/>
              <a:buChar char="•"/>
            </a:pPr>
            <a:r>
              <a:rPr lang="en-US" sz="2161">
                <a:solidFill>
                  <a:srgbClr val="00204B"/>
                </a:solidFill>
                <a:latin typeface="Codec Pro"/>
                <a:ea typeface="Codec Pro"/>
                <a:cs typeface="Codec Pro"/>
                <a:sym typeface="Codec Pro"/>
              </a:rPr>
              <a:t>Confusion matrix</a:t>
            </a:r>
          </a:p>
          <a:p>
            <a:pPr algn="l" marL="933439" indent="-311146" lvl="2">
              <a:lnSpc>
                <a:spcPts val="3026"/>
              </a:lnSpc>
              <a:buFont typeface="Arial"/>
              <a:buChar char="⚬"/>
            </a:pPr>
            <a:r>
              <a:rPr lang="en-US" sz="2161">
                <a:solidFill>
                  <a:srgbClr val="00204B"/>
                </a:solidFill>
                <a:latin typeface="Codec Pro"/>
                <a:ea typeface="Codec Pro"/>
                <a:cs typeface="Codec Pro"/>
                <a:sym typeface="Codec Pro"/>
              </a:rPr>
              <a:t>misclassified normal and alzheimer's 168 and 252 times</a:t>
            </a:r>
          </a:p>
          <a:p>
            <a:pPr algn="l" marL="933439" indent="-311146" lvl="2">
              <a:lnSpc>
                <a:spcPts val="3026"/>
              </a:lnSpc>
              <a:buFont typeface="Arial"/>
              <a:buChar char="⚬"/>
            </a:pPr>
            <a:r>
              <a:rPr lang="en-US" sz="2161">
                <a:solidFill>
                  <a:srgbClr val="00204B"/>
                </a:solidFill>
                <a:latin typeface="Codec Pro"/>
                <a:ea typeface="Codec Pro"/>
                <a:cs typeface="Codec Pro"/>
                <a:sym typeface="Codec Pro"/>
              </a:rPr>
              <a:t>misclassified normal for parkinson’s only 11 times</a:t>
            </a:r>
          </a:p>
          <a:p>
            <a:pPr algn="l">
              <a:lnSpc>
                <a:spcPts val="3026"/>
              </a:lnSpc>
            </a:pPr>
          </a:p>
          <a:p>
            <a:pPr algn="l">
              <a:lnSpc>
                <a:spcPts val="3026"/>
              </a:lnSpc>
              <a:spcBef>
                <a:spcPct val="0"/>
              </a:spcBef>
            </a:pPr>
          </a:p>
        </p:txBody>
      </p:sp>
      <p:sp>
        <p:nvSpPr>
          <p:cNvPr name="Freeform 7" id="7"/>
          <p:cNvSpPr/>
          <p:nvPr/>
        </p:nvSpPr>
        <p:spPr>
          <a:xfrm flipH="false" flipV="false" rot="0">
            <a:off x="0" y="4349381"/>
            <a:ext cx="5596206" cy="5937619"/>
          </a:xfrm>
          <a:custGeom>
            <a:avLst/>
            <a:gdLst/>
            <a:ahLst/>
            <a:cxnLst/>
            <a:rect r="r" b="b" t="t" l="l"/>
            <a:pathLst>
              <a:path h="5937619" w="5596206">
                <a:moveTo>
                  <a:pt x="0" y="0"/>
                </a:moveTo>
                <a:lnTo>
                  <a:pt x="5596206" y="0"/>
                </a:lnTo>
                <a:lnTo>
                  <a:pt x="5596206" y="5937619"/>
                </a:lnTo>
                <a:lnTo>
                  <a:pt x="0" y="5937619"/>
                </a:lnTo>
                <a:lnTo>
                  <a:pt x="0" y="0"/>
                </a:lnTo>
                <a:close/>
              </a:path>
            </a:pathLst>
          </a:custGeom>
          <a:blipFill>
            <a:blip r:embed="rId9"/>
            <a:stretch>
              <a:fillRect l="0" t="0" r="0" b="0"/>
            </a:stretch>
          </a:blipFill>
        </p:spPr>
      </p:sp>
      <p:sp>
        <p:nvSpPr>
          <p:cNvPr name="Freeform 8" id="8"/>
          <p:cNvSpPr/>
          <p:nvPr/>
        </p:nvSpPr>
        <p:spPr>
          <a:xfrm flipH="false" flipV="false" rot="0">
            <a:off x="10195501" y="4023949"/>
            <a:ext cx="7433888" cy="6263051"/>
          </a:xfrm>
          <a:custGeom>
            <a:avLst/>
            <a:gdLst/>
            <a:ahLst/>
            <a:cxnLst/>
            <a:rect r="r" b="b" t="t" l="l"/>
            <a:pathLst>
              <a:path h="6263051" w="7433888">
                <a:moveTo>
                  <a:pt x="0" y="0"/>
                </a:moveTo>
                <a:lnTo>
                  <a:pt x="7433888" y="0"/>
                </a:lnTo>
                <a:lnTo>
                  <a:pt x="7433888" y="6263051"/>
                </a:lnTo>
                <a:lnTo>
                  <a:pt x="0" y="6263051"/>
                </a:lnTo>
                <a:lnTo>
                  <a:pt x="0" y="0"/>
                </a:lnTo>
                <a:close/>
              </a:path>
            </a:pathLst>
          </a:custGeom>
          <a:blipFill>
            <a:blip r:embed="rId10"/>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028700" y="780597"/>
            <a:ext cx="12547951" cy="1122872"/>
          </a:xfrm>
          <a:prstGeom prst="rect">
            <a:avLst/>
          </a:prstGeom>
        </p:spPr>
        <p:txBody>
          <a:bodyPr anchor="t" rtlCol="false" tIns="0" lIns="0" bIns="0" rIns="0">
            <a:spAutoFit/>
          </a:bodyPr>
          <a:lstStyle/>
          <a:p>
            <a:pPr algn="l">
              <a:lnSpc>
                <a:spcPts val="8418"/>
              </a:lnSpc>
            </a:pPr>
            <a:r>
              <a:rPr lang="en-US" sz="8590">
                <a:solidFill>
                  <a:srgbClr val="FFFFFF"/>
                </a:solidFill>
                <a:latin typeface="League Spartan"/>
                <a:ea typeface="League Spartan"/>
                <a:cs typeface="League Spartan"/>
                <a:sym typeface="League Spartan"/>
              </a:rPr>
              <a:t>CNN Model 1</a:t>
            </a:r>
          </a:p>
        </p:txBody>
      </p:sp>
      <p:sp>
        <p:nvSpPr>
          <p:cNvPr name="TextBox 4" id="4"/>
          <p:cNvSpPr txBox="true"/>
          <p:nvPr/>
        </p:nvSpPr>
        <p:spPr>
          <a:xfrm rot="0">
            <a:off x="637529" y="2209299"/>
            <a:ext cx="14862478" cy="8228235"/>
          </a:xfrm>
          <a:prstGeom prst="rect">
            <a:avLst/>
          </a:prstGeom>
        </p:spPr>
        <p:txBody>
          <a:bodyPr anchor="t" rtlCol="false" tIns="0" lIns="0" bIns="0" rIns="0">
            <a:spAutoFit/>
          </a:bodyPr>
          <a:lstStyle/>
          <a:p>
            <a:pPr algn="l">
              <a:lnSpc>
                <a:spcPts val="3225"/>
              </a:lnSpc>
            </a:pPr>
            <a:r>
              <a:rPr lang="en-US" sz="2303">
                <a:solidFill>
                  <a:srgbClr val="FFFFFF"/>
                </a:solidFill>
                <a:latin typeface="Codec Pro"/>
                <a:ea typeface="Codec Pro"/>
                <a:cs typeface="Codec Pro"/>
                <a:sym typeface="Codec Pro"/>
              </a:rPr>
              <a:t>Why Convolutional Neural Network - </a:t>
            </a:r>
            <a:r>
              <a:rPr lang="en-US" sz="2303" b="true">
                <a:solidFill>
                  <a:srgbClr val="FFFFFF"/>
                </a:solidFill>
                <a:latin typeface="Codec Pro Bold"/>
                <a:ea typeface="Codec Pro Bold"/>
                <a:cs typeface="Codec Pro Bold"/>
                <a:sym typeface="Codec Pro Bold"/>
              </a:rPr>
              <a:t>Original Data</a:t>
            </a:r>
          </a:p>
          <a:p>
            <a:pPr algn="l" marL="497379" indent="-248689" lvl="1">
              <a:lnSpc>
                <a:spcPts val="3225"/>
              </a:lnSpc>
              <a:buFont typeface="Arial"/>
              <a:buChar char="•"/>
            </a:pPr>
            <a:r>
              <a:rPr lang="en-US" b="true" sz="2303">
                <a:solidFill>
                  <a:srgbClr val="FFFFFF"/>
                </a:solidFill>
                <a:latin typeface="Codec Pro Bold"/>
                <a:ea typeface="Codec Pro Bold"/>
                <a:cs typeface="Codec Pro Bold"/>
                <a:sym typeface="Codec Pro Bold"/>
              </a:rPr>
              <a:t>Feedforward only achieved 82% accuracy, so we decided to move forward with CNNs which are known to learn spatial patterns in images better</a:t>
            </a:r>
          </a:p>
          <a:p>
            <a:pPr algn="l" marL="497379" indent="-248689" lvl="1">
              <a:lnSpc>
                <a:spcPts val="3225"/>
              </a:lnSpc>
              <a:buFont typeface="Arial"/>
              <a:buChar char="•"/>
            </a:pPr>
            <a:r>
              <a:rPr lang="en-US" sz="2303">
                <a:solidFill>
                  <a:srgbClr val="FFFFFF"/>
                </a:solidFill>
                <a:latin typeface="Codec Pro"/>
                <a:ea typeface="Codec Pro"/>
                <a:cs typeface="Codec Pro"/>
                <a:sym typeface="Codec Pro"/>
              </a:rPr>
              <a:t>Convolution and pooling layers detect features regardless of position</a:t>
            </a:r>
          </a:p>
          <a:p>
            <a:pPr algn="l" marL="497379" indent="-248689" lvl="1">
              <a:lnSpc>
                <a:spcPts val="3225"/>
              </a:lnSpc>
              <a:buFont typeface="Arial"/>
              <a:buChar char="•"/>
            </a:pPr>
            <a:r>
              <a:rPr lang="en-US" sz="2303">
                <a:solidFill>
                  <a:srgbClr val="FFFFFF"/>
                </a:solidFill>
                <a:latin typeface="Codec Pro"/>
                <a:ea typeface="Codec Pro"/>
                <a:cs typeface="Codec Pro"/>
                <a:sym typeface="Codec Pro"/>
              </a:rPr>
              <a:t>Already widely used for MRI analysis</a:t>
            </a:r>
          </a:p>
          <a:p>
            <a:pPr algn="l">
              <a:lnSpc>
                <a:spcPts val="3225"/>
              </a:lnSpc>
            </a:pPr>
          </a:p>
          <a:p>
            <a:pPr algn="l">
              <a:lnSpc>
                <a:spcPts val="3225"/>
              </a:lnSpc>
            </a:pPr>
          </a:p>
          <a:p>
            <a:pPr algn="l">
              <a:lnSpc>
                <a:spcPts val="3225"/>
              </a:lnSpc>
            </a:pPr>
          </a:p>
          <a:p>
            <a:pPr algn="l">
              <a:lnSpc>
                <a:spcPts val="3225"/>
              </a:lnSpc>
            </a:pPr>
            <a:r>
              <a:rPr lang="en-US" sz="2303">
                <a:solidFill>
                  <a:srgbClr val="FFFFFF"/>
                </a:solidFill>
                <a:latin typeface="Codec Pro"/>
                <a:ea typeface="Codec Pro"/>
                <a:cs typeface="Codec Pro"/>
                <a:sym typeface="Codec Pro"/>
              </a:rPr>
              <a:t>Architecture:</a:t>
            </a:r>
          </a:p>
          <a:p>
            <a:pPr algn="l" marL="497379" indent="-248689" lvl="1">
              <a:lnSpc>
                <a:spcPts val="3225"/>
              </a:lnSpc>
              <a:buAutoNum type="arabicPeriod" startAt="1"/>
            </a:pPr>
            <a:r>
              <a:rPr lang="en-US" sz="2303">
                <a:solidFill>
                  <a:srgbClr val="FFFFFF"/>
                </a:solidFill>
                <a:latin typeface="Codec Pro"/>
                <a:ea typeface="Codec Pro"/>
                <a:cs typeface="Codec Pro"/>
                <a:sym typeface="Codec Pro"/>
              </a:rPr>
              <a:t>Convolution + Pooling</a:t>
            </a:r>
          </a:p>
          <a:p>
            <a:pPr algn="l" marL="994757" indent="-331586" lvl="2">
              <a:lnSpc>
                <a:spcPts val="3225"/>
              </a:lnSpc>
              <a:buFont typeface="Arial"/>
              <a:buChar char="⚬"/>
            </a:pPr>
            <a:r>
              <a:rPr lang="en-US" sz="2303">
                <a:solidFill>
                  <a:srgbClr val="FFFFFF"/>
                </a:solidFill>
                <a:latin typeface="Codec Pro"/>
                <a:ea typeface="Codec Pro"/>
                <a:cs typeface="Codec Pro"/>
                <a:sym typeface="Codec Pro"/>
              </a:rPr>
              <a:t>Conv1: 32 filters 3x3 → ReLU → MaxPool (2×2)</a:t>
            </a:r>
          </a:p>
          <a:p>
            <a:pPr algn="l" marL="994757" indent="-331586" lvl="2">
              <a:lnSpc>
                <a:spcPts val="3225"/>
              </a:lnSpc>
              <a:buFont typeface="Arial"/>
              <a:buChar char="⚬"/>
            </a:pPr>
            <a:r>
              <a:rPr lang="en-US" sz="2303">
                <a:solidFill>
                  <a:srgbClr val="FFFFFF"/>
                </a:solidFill>
                <a:latin typeface="Codec Pro"/>
                <a:ea typeface="Codec Pro"/>
                <a:cs typeface="Codec Pro"/>
                <a:sym typeface="Codec Pro"/>
              </a:rPr>
              <a:t>Conv2: 64 filters 3x3 → ReLU → MaxPool (2×2)</a:t>
            </a:r>
          </a:p>
          <a:p>
            <a:pPr algn="l" marL="994757" indent="-331586" lvl="2">
              <a:lnSpc>
                <a:spcPts val="3225"/>
              </a:lnSpc>
              <a:buFont typeface="Arial"/>
              <a:buChar char="⚬"/>
            </a:pPr>
            <a:r>
              <a:rPr lang="en-US" sz="2303">
                <a:solidFill>
                  <a:srgbClr val="FFFFFF"/>
                </a:solidFill>
                <a:latin typeface="Codec Pro"/>
                <a:ea typeface="Codec Pro"/>
                <a:cs typeface="Codec Pro"/>
                <a:sym typeface="Codec Pro"/>
              </a:rPr>
              <a:t>Conv3: 128 filters 3x3 → ReLU → MaxPool (2×2)</a:t>
            </a:r>
          </a:p>
          <a:p>
            <a:pPr algn="l" marL="497379" indent="-248689" lvl="1">
              <a:lnSpc>
                <a:spcPts val="3225"/>
              </a:lnSpc>
              <a:buAutoNum type="arabicPeriod" startAt="1"/>
            </a:pPr>
            <a:r>
              <a:rPr lang="en-US" sz="2303">
                <a:solidFill>
                  <a:srgbClr val="FFFFFF"/>
                </a:solidFill>
                <a:latin typeface="Codec Pro"/>
                <a:ea typeface="Codec Pro"/>
                <a:cs typeface="Codec Pro"/>
                <a:sym typeface="Codec Pro"/>
              </a:rPr>
              <a:t>Flatten Layer: Takes the output (128×16×16) and flattens to a 1D vector of 32768 features.</a:t>
            </a:r>
          </a:p>
          <a:p>
            <a:pPr algn="l" marL="497379" indent="-248689" lvl="1">
              <a:lnSpc>
                <a:spcPts val="3225"/>
              </a:lnSpc>
              <a:buAutoNum type="arabicPeriod" startAt="1"/>
            </a:pPr>
            <a:r>
              <a:rPr lang="en-US" sz="2303">
                <a:solidFill>
                  <a:srgbClr val="FFFFFF"/>
                </a:solidFill>
                <a:latin typeface="Codec Pro"/>
                <a:ea typeface="Codec Pro"/>
                <a:cs typeface="Codec Pro"/>
                <a:sym typeface="Codec Pro"/>
              </a:rPr>
              <a:t>Fully Connected Layers</a:t>
            </a:r>
          </a:p>
          <a:p>
            <a:pPr algn="l" marL="994757" indent="-331586" lvl="2">
              <a:lnSpc>
                <a:spcPts val="3225"/>
              </a:lnSpc>
              <a:buFont typeface="Arial"/>
              <a:buChar char="⚬"/>
            </a:pPr>
            <a:r>
              <a:rPr lang="en-US" sz="2303">
                <a:solidFill>
                  <a:srgbClr val="FFFFFF"/>
                </a:solidFill>
                <a:latin typeface="Codec Pro"/>
                <a:ea typeface="Codec Pro"/>
                <a:cs typeface="Codec Pro"/>
                <a:sym typeface="Codec Pro"/>
              </a:rPr>
              <a:t>FC1: 128 neurons → ReLU</a:t>
            </a:r>
          </a:p>
          <a:p>
            <a:pPr algn="l" marL="994757" indent="-331586" lvl="2">
              <a:lnSpc>
                <a:spcPts val="3225"/>
              </a:lnSpc>
              <a:buFont typeface="Arial"/>
              <a:buChar char="⚬"/>
            </a:pPr>
            <a:r>
              <a:rPr lang="en-US" sz="2303">
                <a:solidFill>
                  <a:srgbClr val="FFFFFF"/>
                </a:solidFill>
                <a:latin typeface="Codec Pro"/>
                <a:ea typeface="Codec Pro"/>
                <a:cs typeface="Codec Pro"/>
                <a:sym typeface="Codec Pro"/>
              </a:rPr>
              <a:t>Output: Fully connected layer → raw logits for multi-class classification</a:t>
            </a:r>
          </a:p>
          <a:p>
            <a:pPr algn="l">
              <a:lnSpc>
                <a:spcPts val="3225"/>
              </a:lnSpc>
            </a:pPr>
          </a:p>
          <a:p>
            <a:pPr algn="l">
              <a:lnSpc>
                <a:spcPts val="3225"/>
              </a:lnSpc>
            </a:pPr>
          </a:p>
          <a:p>
            <a:pPr algn="l">
              <a:lnSpc>
                <a:spcPts val="3225"/>
              </a:lnSpc>
              <a:spcBef>
                <a:spcPct val="0"/>
              </a:spcBef>
            </a:pPr>
          </a:p>
        </p:txBody>
      </p:sp>
      <p:sp>
        <p:nvSpPr>
          <p:cNvPr name="Freeform 5" id="5"/>
          <p:cNvSpPr/>
          <p:nvPr/>
        </p:nvSpPr>
        <p:spPr>
          <a:xfrm flipH="false" flipV="false" rot="0">
            <a:off x="16416515" y="8832335"/>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2566591">
            <a:off x="11211045" y="3136969"/>
            <a:ext cx="11421234" cy="8780073"/>
          </a:xfrm>
          <a:custGeom>
            <a:avLst/>
            <a:gdLst/>
            <a:ahLst/>
            <a:cxnLst/>
            <a:rect r="r" b="b" t="t" l="l"/>
            <a:pathLst>
              <a:path h="8780073" w="11421234">
                <a:moveTo>
                  <a:pt x="0" y="0"/>
                </a:moveTo>
                <a:lnTo>
                  <a:pt x="11421234" y="0"/>
                </a:lnTo>
                <a:lnTo>
                  <a:pt x="11421234" y="8780073"/>
                </a:lnTo>
                <a:lnTo>
                  <a:pt x="0" y="8780073"/>
                </a:lnTo>
                <a:lnTo>
                  <a:pt x="0" y="0"/>
                </a:lnTo>
                <a:close/>
              </a:path>
            </a:pathLst>
          </a:custGeom>
          <a:blipFill>
            <a:blip r:embed="rId7"/>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028700" y="6237670"/>
            <a:ext cx="8795364" cy="3020630"/>
          </a:xfrm>
          <a:custGeom>
            <a:avLst/>
            <a:gdLst/>
            <a:ahLst/>
            <a:cxnLst/>
            <a:rect r="r" b="b" t="t" l="l"/>
            <a:pathLst>
              <a:path h="3020630" w="8795364">
                <a:moveTo>
                  <a:pt x="0" y="0"/>
                </a:moveTo>
                <a:lnTo>
                  <a:pt x="8795364" y="0"/>
                </a:lnTo>
                <a:lnTo>
                  <a:pt x="8795364" y="3020630"/>
                </a:lnTo>
                <a:lnTo>
                  <a:pt x="0" y="3020630"/>
                </a:lnTo>
                <a:lnTo>
                  <a:pt x="0" y="0"/>
                </a:lnTo>
                <a:close/>
              </a:path>
            </a:pathLst>
          </a:custGeom>
          <a:blipFill>
            <a:blip r:embed="rId9"/>
            <a:stretch>
              <a:fillRect l="0" t="0" r="0" b="0"/>
            </a:stretch>
          </a:blipFill>
        </p:spPr>
      </p:sp>
      <p:sp>
        <p:nvSpPr>
          <p:cNvPr name="Freeform 6" id="6"/>
          <p:cNvSpPr/>
          <p:nvPr/>
        </p:nvSpPr>
        <p:spPr>
          <a:xfrm flipH="false" flipV="false" rot="0">
            <a:off x="10657996" y="4023949"/>
            <a:ext cx="7291271" cy="6115554"/>
          </a:xfrm>
          <a:custGeom>
            <a:avLst/>
            <a:gdLst/>
            <a:ahLst/>
            <a:cxnLst/>
            <a:rect r="r" b="b" t="t" l="l"/>
            <a:pathLst>
              <a:path h="6115554" w="7291271">
                <a:moveTo>
                  <a:pt x="0" y="0"/>
                </a:moveTo>
                <a:lnTo>
                  <a:pt x="7291271" y="0"/>
                </a:lnTo>
                <a:lnTo>
                  <a:pt x="7291271" y="6115554"/>
                </a:lnTo>
                <a:lnTo>
                  <a:pt x="0" y="6115554"/>
                </a:lnTo>
                <a:lnTo>
                  <a:pt x="0" y="0"/>
                </a:lnTo>
                <a:close/>
              </a:path>
            </a:pathLst>
          </a:custGeom>
          <a:blipFill>
            <a:blip r:embed="rId10"/>
            <a:stretch>
              <a:fillRect l="0" t="0" r="0" b="0"/>
            </a:stretch>
          </a:blipFill>
        </p:spPr>
      </p:sp>
      <p:sp>
        <p:nvSpPr>
          <p:cNvPr name="TextBox 7" id="7"/>
          <p:cNvSpPr txBox="true"/>
          <p:nvPr/>
        </p:nvSpPr>
        <p:spPr>
          <a:xfrm rot="0">
            <a:off x="1453056" y="3139246"/>
            <a:ext cx="11216659" cy="2176166"/>
          </a:xfrm>
          <a:prstGeom prst="rect">
            <a:avLst/>
          </a:prstGeom>
        </p:spPr>
        <p:txBody>
          <a:bodyPr anchor="t" rtlCol="false" tIns="0" lIns="0" bIns="0" rIns="0">
            <a:spAutoFit/>
          </a:bodyPr>
          <a:lstStyle/>
          <a:p>
            <a:pPr algn="l" marL="528773" indent="-264386" lvl="1">
              <a:lnSpc>
                <a:spcPts val="3428"/>
              </a:lnSpc>
              <a:buFont typeface="Arial"/>
              <a:buChar char="•"/>
            </a:pPr>
            <a:r>
              <a:rPr lang="en-US" sz="2449">
                <a:solidFill>
                  <a:srgbClr val="00204B"/>
                </a:solidFill>
                <a:latin typeface="Codec Pro"/>
                <a:ea typeface="Codec Pro"/>
                <a:cs typeface="Codec Pro"/>
                <a:sym typeface="Codec Pro"/>
              </a:rPr>
              <a:t>98% accuracy, albeit on unbalanced data</a:t>
            </a:r>
          </a:p>
          <a:p>
            <a:pPr algn="l" marL="528773" indent="-264386" lvl="1">
              <a:lnSpc>
                <a:spcPts val="3428"/>
              </a:lnSpc>
              <a:buFont typeface="Arial"/>
              <a:buChar char="•"/>
            </a:pPr>
            <a:r>
              <a:rPr lang="en-US" sz="2449">
                <a:solidFill>
                  <a:srgbClr val="00204B"/>
                </a:solidFill>
                <a:latin typeface="Codec Pro"/>
                <a:ea typeface="Codec Pro"/>
                <a:cs typeface="Codec Pro"/>
                <a:sym typeface="Codec Pro"/>
              </a:rPr>
              <a:t>PCA on the last layer embeddings showed great class separation!</a:t>
            </a:r>
          </a:p>
          <a:p>
            <a:pPr algn="l" marL="528773" indent="-264386" lvl="1">
              <a:lnSpc>
                <a:spcPts val="3428"/>
              </a:lnSpc>
              <a:buFont typeface="Arial"/>
              <a:buChar char="•"/>
            </a:pPr>
            <a:r>
              <a:rPr lang="en-US" sz="2449">
                <a:solidFill>
                  <a:srgbClr val="00204B"/>
                </a:solidFill>
                <a:latin typeface="Codec Pro"/>
                <a:ea typeface="Codec Pro"/>
                <a:cs typeface="Codec Pro"/>
                <a:sym typeface="Codec Pro"/>
              </a:rPr>
              <a:t>We thought exploring the kernels could be cool </a:t>
            </a:r>
          </a:p>
          <a:p>
            <a:pPr algn="l" marL="1057545" indent="-352515" lvl="2">
              <a:lnSpc>
                <a:spcPts val="3428"/>
              </a:lnSpc>
              <a:buFont typeface="Arial"/>
              <a:buChar char="⚬"/>
            </a:pPr>
            <a:r>
              <a:rPr lang="en-US" sz="2449">
                <a:solidFill>
                  <a:srgbClr val="00204B"/>
                </a:solidFill>
                <a:latin typeface="Codec Pro"/>
                <a:ea typeface="Codec Pro"/>
                <a:cs typeface="Codec Pro"/>
                <a:sym typeface="Codec Pro"/>
              </a:rPr>
              <a:t>initially started with 3x3 kernel size</a:t>
            </a:r>
          </a:p>
          <a:p>
            <a:pPr algn="l" marL="1057545" indent="-352515" lvl="2">
              <a:lnSpc>
                <a:spcPts val="3428"/>
              </a:lnSpc>
              <a:spcBef>
                <a:spcPct val="0"/>
              </a:spcBef>
              <a:buFont typeface="Arial"/>
              <a:buChar char="⚬"/>
            </a:pPr>
            <a:r>
              <a:rPr lang="en-US" sz="2449">
                <a:solidFill>
                  <a:srgbClr val="00204B"/>
                </a:solidFill>
                <a:latin typeface="Codec Pro"/>
                <a:ea typeface="Codec Pro"/>
                <a:cs typeface="Codec Pro"/>
                <a:sym typeface="Codec Pro"/>
              </a:rPr>
              <a:t> they didn’t tell us much</a:t>
            </a:r>
          </a:p>
        </p:txBody>
      </p:sp>
      <p:sp>
        <p:nvSpPr>
          <p:cNvPr name="TextBox 8" id="8"/>
          <p:cNvSpPr txBox="true"/>
          <p:nvPr/>
        </p:nvSpPr>
        <p:spPr>
          <a:xfrm rot="0">
            <a:off x="2350683" y="852317"/>
            <a:ext cx="11247701"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CNN Model 1 - Results</a:t>
            </a:r>
          </a:p>
        </p:txBody>
      </p:sp>
      <p:sp>
        <p:nvSpPr>
          <p:cNvPr name="TextBox 9" id="9"/>
          <p:cNvSpPr txBox="true"/>
          <p:nvPr/>
        </p:nvSpPr>
        <p:spPr>
          <a:xfrm rot="0">
            <a:off x="1028700" y="5736203"/>
            <a:ext cx="6032686" cy="469534"/>
          </a:xfrm>
          <a:prstGeom prst="rect">
            <a:avLst/>
          </a:prstGeom>
        </p:spPr>
        <p:txBody>
          <a:bodyPr anchor="t" rtlCol="false" tIns="0" lIns="0" bIns="0" rIns="0">
            <a:spAutoFit/>
          </a:bodyPr>
          <a:lstStyle/>
          <a:p>
            <a:pPr algn="ctr">
              <a:lnSpc>
                <a:spcPts val="3520"/>
              </a:lnSpc>
              <a:spcBef>
                <a:spcPct val="0"/>
              </a:spcBef>
            </a:pPr>
            <a:r>
              <a:rPr lang="en-US" sz="2514">
                <a:solidFill>
                  <a:srgbClr val="000000"/>
                </a:solidFill>
                <a:latin typeface="Codec Pro"/>
                <a:ea typeface="Codec Pro"/>
                <a:cs typeface="Codec Pro"/>
                <a:sym typeface="Codec Pro"/>
              </a:rPr>
              <a:t>Kernel Visualization 3/32 from first layer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8052179" y="5143500"/>
            <a:ext cx="10235821" cy="5143500"/>
          </a:xfrm>
          <a:custGeom>
            <a:avLst/>
            <a:gdLst/>
            <a:ahLst/>
            <a:cxnLst/>
            <a:rect r="r" b="b" t="t" l="l"/>
            <a:pathLst>
              <a:path h="5143500" w="10235821">
                <a:moveTo>
                  <a:pt x="0" y="0"/>
                </a:moveTo>
                <a:lnTo>
                  <a:pt x="10235821" y="0"/>
                </a:lnTo>
                <a:lnTo>
                  <a:pt x="10235821" y="5143500"/>
                </a:lnTo>
                <a:lnTo>
                  <a:pt x="0" y="5143500"/>
                </a:lnTo>
                <a:lnTo>
                  <a:pt x="0" y="0"/>
                </a:lnTo>
                <a:close/>
              </a:path>
            </a:pathLst>
          </a:custGeom>
          <a:blipFill>
            <a:blip r:embed="rId9"/>
            <a:stretch>
              <a:fillRect l="0" t="0" r="0" b="0"/>
            </a:stretch>
          </a:blipFill>
        </p:spPr>
      </p:sp>
      <p:sp>
        <p:nvSpPr>
          <p:cNvPr name="AutoShape 6" id="6"/>
          <p:cNvSpPr/>
          <p:nvPr/>
        </p:nvSpPr>
        <p:spPr>
          <a:xfrm flipH="true">
            <a:off x="5029917" y="5998710"/>
            <a:ext cx="6922260" cy="1277145"/>
          </a:xfrm>
          <a:prstGeom prst="line">
            <a:avLst/>
          </a:prstGeom>
          <a:ln cap="flat" w="38100">
            <a:solidFill>
              <a:srgbClr val="196BE4"/>
            </a:solidFill>
            <a:prstDash val="solid"/>
            <a:headEnd type="none" len="sm" w="sm"/>
            <a:tailEnd type="arrow" len="sm" w="med"/>
          </a:ln>
        </p:spPr>
      </p:sp>
      <p:sp>
        <p:nvSpPr>
          <p:cNvPr name="Freeform 7" id="7"/>
          <p:cNvSpPr/>
          <p:nvPr/>
        </p:nvSpPr>
        <p:spPr>
          <a:xfrm flipH="false" flipV="false" rot="0">
            <a:off x="538676" y="4672047"/>
            <a:ext cx="4491241" cy="5149440"/>
          </a:xfrm>
          <a:custGeom>
            <a:avLst/>
            <a:gdLst/>
            <a:ahLst/>
            <a:cxnLst/>
            <a:rect r="r" b="b" t="t" l="l"/>
            <a:pathLst>
              <a:path h="5149440" w="4491241">
                <a:moveTo>
                  <a:pt x="0" y="0"/>
                </a:moveTo>
                <a:lnTo>
                  <a:pt x="4491241" y="0"/>
                </a:lnTo>
                <a:lnTo>
                  <a:pt x="4491241" y="5149440"/>
                </a:lnTo>
                <a:lnTo>
                  <a:pt x="0" y="5149440"/>
                </a:lnTo>
                <a:lnTo>
                  <a:pt x="0" y="0"/>
                </a:lnTo>
                <a:close/>
              </a:path>
            </a:pathLst>
          </a:custGeom>
          <a:blipFill>
            <a:blip r:embed="rId10"/>
            <a:stretch>
              <a:fillRect l="0" t="0" r="0" b="0"/>
            </a:stretch>
          </a:blipFill>
        </p:spPr>
      </p:sp>
      <p:sp>
        <p:nvSpPr>
          <p:cNvPr name="TextBox 8" id="8"/>
          <p:cNvSpPr txBox="true"/>
          <p:nvPr/>
        </p:nvSpPr>
        <p:spPr>
          <a:xfrm rot="0">
            <a:off x="543857" y="642493"/>
            <a:ext cx="19724178" cy="1753489"/>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CNN Exploration - Big Kernels and Visualization</a:t>
            </a:r>
          </a:p>
        </p:txBody>
      </p:sp>
      <p:sp>
        <p:nvSpPr>
          <p:cNvPr name="TextBox 9" id="9"/>
          <p:cNvSpPr txBox="true"/>
          <p:nvPr/>
        </p:nvSpPr>
        <p:spPr>
          <a:xfrm rot="0">
            <a:off x="1291622" y="2281682"/>
            <a:ext cx="15547389" cy="2239152"/>
          </a:xfrm>
          <a:prstGeom prst="rect">
            <a:avLst/>
          </a:prstGeom>
        </p:spPr>
        <p:txBody>
          <a:bodyPr anchor="t" rtlCol="false" tIns="0" lIns="0" bIns="0" rIns="0">
            <a:spAutoFit/>
          </a:bodyPr>
          <a:lstStyle/>
          <a:p>
            <a:pPr algn="l" marL="680290" indent="-340145" lvl="1">
              <a:lnSpc>
                <a:spcPts val="4411"/>
              </a:lnSpc>
              <a:buFont typeface="Arial"/>
              <a:buChar char="•"/>
            </a:pPr>
            <a:r>
              <a:rPr lang="en-US" sz="3150">
                <a:solidFill>
                  <a:srgbClr val="00204B"/>
                </a:solidFill>
                <a:latin typeface="Codec Pro"/>
                <a:ea typeface="Codec Pro"/>
                <a:cs typeface="Codec Pro"/>
                <a:sym typeface="Codec Pro"/>
              </a:rPr>
              <a:t>If we make big kernels, can we see some patterns?</a:t>
            </a:r>
          </a:p>
          <a:p>
            <a:pPr algn="l" marL="680290" indent="-340145" lvl="1">
              <a:lnSpc>
                <a:spcPts val="4411"/>
              </a:lnSpc>
              <a:buFont typeface="Arial"/>
              <a:buChar char="•"/>
            </a:pPr>
            <a:r>
              <a:rPr lang="en-US" sz="3150">
                <a:solidFill>
                  <a:srgbClr val="00204B"/>
                </a:solidFill>
                <a:latin typeface="Codec Pro"/>
                <a:ea typeface="Codec Pro"/>
                <a:cs typeface="Codec Pro"/>
                <a:sym typeface="Codec Pro"/>
              </a:rPr>
              <a:t>We trained our CNN V1 again, 82% accuracy, except with 31x31 kernels</a:t>
            </a:r>
          </a:p>
          <a:p>
            <a:pPr algn="l" marL="680290" indent="-340145" lvl="1">
              <a:lnSpc>
                <a:spcPts val="4411"/>
              </a:lnSpc>
              <a:buFont typeface="Arial"/>
              <a:buChar char="•"/>
            </a:pPr>
            <a:r>
              <a:rPr lang="en-US" sz="3150">
                <a:solidFill>
                  <a:srgbClr val="00204B"/>
                </a:solidFill>
                <a:latin typeface="Codec Pro"/>
                <a:ea typeface="Codec Pro"/>
                <a:cs typeface="Codec Pro"/>
                <a:sym typeface="Codec Pro"/>
              </a:rPr>
              <a:t>Visualized the kernels, and applied smoothing to make it more interpretable</a:t>
            </a:r>
          </a:p>
          <a:p>
            <a:pPr algn="l" marL="680290" indent="-340145" lvl="1">
              <a:lnSpc>
                <a:spcPts val="4411"/>
              </a:lnSpc>
              <a:spcBef>
                <a:spcPct val="0"/>
              </a:spcBef>
              <a:buFont typeface="Arial"/>
              <a:buChar char="•"/>
            </a:pPr>
            <a:r>
              <a:rPr lang="en-US" sz="3150">
                <a:solidFill>
                  <a:srgbClr val="00204B"/>
                </a:solidFill>
                <a:latin typeface="Codec Pro"/>
                <a:ea typeface="Codec Pro"/>
                <a:cs typeface="Codec Pro"/>
                <a:sym typeface="Codec Pro"/>
              </a:rPr>
              <a:t>Filter 3 looked like... something brainy?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416515" y="8832335"/>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2566591">
            <a:off x="11211045" y="3136969"/>
            <a:ext cx="11421234" cy="8780073"/>
          </a:xfrm>
          <a:custGeom>
            <a:avLst/>
            <a:gdLst/>
            <a:ahLst/>
            <a:cxnLst/>
            <a:rect r="r" b="b" t="t" l="l"/>
            <a:pathLst>
              <a:path h="8780073" w="11421234">
                <a:moveTo>
                  <a:pt x="0" y="0"/>
                </a:moveTo>
                <a:lnTo>
                  <a:pt x="11421234" y="0"/>
                </a:lnTo>
                <a:lnTo>
                  <a:pt x="11421234" y="8780073"/>
                </a:lnTo>
                <a:lnTo>
                  <a:pt x="0" y="8780073"/>
                </a:lnTo>
                <a:lnTo>
                  <a:pt x="0" y="0"/>
                </a:lnTo>
                <a:close/>
              </a:path>
            </a:pathLst>
          </a:custGeom>
          <a:blipFill>
            <a:blip r:embed="rId7"/>
            <a:stretch>
              <a:fillRect l="0" t="0" r="0" b="0"/>
            </a:stretch>
          </a:blipFill>
        </p:spPr>
      </p:sp>
      <p:pic>
        <p:nvPicPr>
          <p:cNvPr name="Picture 5" id="5">
            <a:hlinkClick action="ppaction://media"/>
          </p:cNvPr>
          <p:cNvPicPr>
            <a:picLocks noChangeAspect="true"/>
          </p:cNvPicPr>
          <p:nvPr>
            <a:videoFile r:link="rId9"/>
            <p:extLst>
              <p:ext uri="{DAA4B4D4-6D71-4841-9C94-3DE7FCFB9230}">
                <p14:media xmlns:p14="http://schemas.microsoft.com/office/powerpoint/2010/main" r:embed="rId10"/>
              </p:ext>
            </p:extLst>
          </p:nvPr>
        </p:nvPicPr>
        <p:blipFill>
          <a:blip r:embed="rId8"/>
          <a:srcRect l="33195" t="31808" r="25315" b="5176"/>
          <a:stretch>
            <a:fillRect/>
          </a:stretch>
        </p:blipFill>
        <p:spPr>
          <a:xfrm flipH="false" flipV="false" rot="0">
            <a:off x="10029755" y="1256509"/>
            <a:ext cx="8045478" cy="7637245"/>
          </a:xfrm>
          <a:prstGeom prst="rect">
            <a:avLst/>
          </a:prstGeom>
        </p:spPr>
      </p:pic>
      <p:sp>
        <p:nvSpPr>
          <p:cNvPr name="TextBox 6" id="6"/>
          <p:cNvSpPr txBox="true"/>
          <p:nvPr/>
        </p:nvSpPr>
        <p:spPr>
          <a:xfrm rot="0">
            <a:off x="1028700" y="1437484"/>
            <a:ext cx="12547951" cy="1122872"/>
          </a:xfrm>
          <a:prstGeom prst="rect">
            <a:avLst/>
          </a:prstGeom>
        </p:spPr>
        <p:txBody>
          <a:bodyPr anchor="t" rtlCol="false" tIns="0" lIns="0" bIns="0" rIns="0">
            <a:spAutoFit/>
          </a:bodyPr>
          <a:lstStyle/>
          <a:p>
            <a:pPr algn="l">
              <a:lnSpc>
                <a:spcPts val="8418"/>
              </a:lnSpc>
            </a:pPr>
            <a:r>
              <a:rPr lang="en-US" sz="8590">
                <a:solidFill>
                  <a:srgbClr val="FFFFFF"/>
                </a:solidFill>
                <a:latin typeface="League Spartan"/>
                <a:ea typeface="League Spartan"/>
                <a:cs typeface="League Spartan"/>
                <a:sym typeface="League Spartan"/>
              </a:rPr>
              <a:t>CNN Model 2</a:t>
            </a:r>
          </a:p>
        </p:txBody>
      </p:sp>
      <p:sp>
        <p:nvSpPr>
          <p:cNvPr name="TextBox 7" id="7"/>
          <p:cNvSpPr txBox="true"/>
          <p:nvPr/>
        </p:nvSpPr>
        <p:spPr>
          <a:xfrm rot="0">
            <a:off x="267763" y="3020900"/>
            <a:ext cx="9752466" cy="5863904"/>
          </a:xfrm>
          <a:prstGeom prst="rect">
            <a:avLst/>
          </a:prstGeom>
        </p:spPr>
        <p:txBody>
          <a:bodyPr anchor="t" rtlCol="false" tIns="0" lIns="0" bIns="0" rIns="0">
            <a:spAutoFit/>
          </a:bodyPr>
          <a:lstStyle/>
          <a:p>
            <a:pPr algn="l" marL="596451" indent="-298225" lvl="1">
              <a:lnSpc>
                <a:spcPts val="3867"/>
              </a:lnSpc>
              <a:buFont typeface="Arial"/>
              <a:buChar char="•"/>
            </a:pPr>
            <a:r>
              <a:rPr lang="en-US" b="true" sz="2762">
                <a:solidFill>
                  <a:srgbClr val="FFFFFF"/>
                </a:solidFill>
                <a:latin typeface="Codec Pro Bold"/>
                <a:ea typeface="Codec Pro Bold"/>
                <a:cs typeface="Codec Pro Bold"/>
                <a:sym typeface="Codec Pro Bold"/>
              </a:rPr>
              <a:t>Trained CNN V1 on the augmented data,</a:t>
            </a:r>
          </a:p>
          <a:p>
            <a:pPr algn="l" marL="1192901" indent="-397634" lvl="2">
              <a:lnSpc>
                <a:spcPts val="3867"/>
              </a:lnSpc>
              <a:buFont typeface="Arial"/>
              <a:buChar char="⚬"/>
            </a:pPr>
            <a:r>
              <a:rPr lang="en-US" b="true" sz="2762">
                <a:solidFill>
                  <a:srgbClr val="FFFFFF"/>
                </a:solidFill>
                <a:latin typeface="Codec Pro Bold"/>
                <a:ea typeface="Codec Pro Bold"/>
                <a:cs typeface="Codec Pro Bold"/>
                <a:sym typeface="Codec Pro Bold"/>
              </a:rPr>
              <a:t>Wanted better data for parkinsons, and wanted make the model more generalizable</a:t>
            </a:r>
          </a:p>
          <a:p>
            <a:pPr algn="l" marL="596451" indent="-298225" lvl="1">
              <a:lnSpc>
                <a:spcPts val="3867"/>
              </a:lnSpc>
              <a:buFont typeface="Arial"/>
              <a:buChar char="•"/>
            </a:pPr>
            <a:r>
              <a:rPr lang="en-US" b="true" sz="2762">
                <a:solidFill>
                  <a:srgbClr val="FFFFFF"/>
                </a:solidFill>
                <a:latin typeface="Codec Pro Bold"/>
                <a:ea typeface="Codec Pro Bold"/>
                <a:cs typeface="Codec Pro Bold"/>
                <a:sym typeface="Codec Pro Bold"/>
              </a:rPr>
              <a:t>Archtecture:</a:t>
            </a:r>
          </a:p>
          <a:p>
            <a:pPr algn="l" marL="1192901" indent="-397634" lvl="2">
              <a:lnSpc>
                <a:spcPts val="3867"/>
              </a:lnSpc>
              <a:buFont typeface="Arial"/>
              <a:buChar char="⚬"/>
            </a:pPr>
            <a:r>
              <a:rPr lang="en-US" b="true" sz="2762">
                <a:solidFill>
                  <a:srgbClr val="FFFFFF"/>
                </a:solidFill>
                <a:latin typeface="Codec Pro Bold"/>
                <a:ea typeface="Codec Pro Bold"/>
                <a:cs typeface="Codec Pro Bold"/>
                <a:sym typeface="Codec Pro Bold"/>
              </a:rPr>
              <a:t>Same as CNN model one, we just changed the inputs </a:t>
            </a:r>
          </a:p>
          <a:p>
            <a:pPr algn="l" marL="596451" indent="-298225" lvl="1">
              <a:lnSpc>
                <a:spcPts val="3867"/>
              </a:lnSpc>
              <a:buFont typeface="Arial"/>
              <a:buChar char="•"/>
            </a:pPr>
            <a:r>
              <a:rPr lang="en-US" b="true" sz="2762">
                <a:solidFill>
                  <a:srgbClr val="FFFFFF"/>
                </a:solidFill>
                <a:latin typeface="Codec Pro Bold"/>
                <a:ea typeface="Codec Pro Bold"/>
                <a:cs typeface="Codec Pro Bold"/>
                <a:sym typeface="Codec Pro Bold"/>
              </a:rPr>
              <a:t>Achieved 90% accuracy after 30 epochs, plateaued</a:t>
            </a:r>
          </a:p>
          <a:p>
            <a:pPr algn="l" marL="596451" indent="-298225" lvl="1">
              <a:lnSpc>
                <a:spcPts val="3867"/>
              </a:lnSpc>
              <a:buFont typeface="Arial"/>
              <a:buChar char="•"/>
            </a:pPr>
            <a:r>
              <a:rPr lang="en-US" b="true" sz="2762">
                <a:solidFill>
                  <a:srgbClr val="FFFFFF"/>
                </a:solidFill>
                <a:latin typeface="Codec Pro Bold"/>
                <a:ea typeface="Codec Pro Bold"/>
                <a:cs typeface="Codec Pro Bold"/>
                <a:sym typeface="Codec Pro Bold"/>
              </a:rPr>
              <a:t>This is much better than feed forward on the augmented data!</a:t>
            </a:r>
          </a:p>
          <a:p>
            <a:pPr algn="l" marL="596451" indent="-298225" lvl="1">
              <a:lnSpc>
                <a:spcPts val="3867"/>
              </a:lnSpc>
              <a:buFont typeface="Arial"/>
              <a:buChar char="•"/>
            </a:pPr>
            <a:r>
              <a:rPr lang="en-US" sz="2762">
                <a:solidFill>
                  <a:srgbClr val="FFFFFF"/>
                </a:solidFill>
                <a:latin typeface="Codec Pro"/>
                <a:ea typeface="Codec Pro"/>
                <a:cs typeface="Codec Pro"/>
                <a:sym typeface="Codec Pro"/>
              </a:rPr>
              <a:t>With bettter data, the CNN performed worse </a:t>
            </a:r>
          </a:p>
          <a:p>
            <a:pPr algn="l">
              <a:lnSpc>
                <a:spcPts val="3867"/>
              </a:lnSpc>
            </a:pPr>
          </a:p>
          <a:p>
            <a:pPr algn="l">
              <a:lnSpc>
                <a:spcPts val="3867"/>
              </a:lnSpc>
              <a:spcBef>
                <a:spcPct val="0"/>
              </a:spcBef>
            </a:pPr>
          </a:p>
        </p:txBody>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2059316" y="0"/>
            <a:ext cx="6228684" cy="6915566"/>
          </a:xfrm>
          <a:custGeom>
            <a:avLst/>
            <a:gdLst/>
            <a:ahLst/>
            <a:cxnLst/>
            <a:rect r="r" b="b" t="t" l="l"/>
            <a:pathLst>
              <a:path h="6915566" w="6228684">
                <a:moveTo>
                  <a:pt x="0" y="0"/>
                </a:moveTo>
                <a:lnTo>
                  <a:pt x="6228684" y="0"/>
                </a:lnTo>
                <a:lnTo>
                  <a:pt x="6228684" y="6915566"/>
                </a:lnTo>
                <a:lnTo>
                  <a:pt x="0" y="6915566"/>
                </a:lnTo>
                <a:lnTo>
                  <a:pt x="0" y="0"/>
                </a:lnTo>
                <a:close/>
              </a:path>
            </a:pathLst>
          </a:custGeom>
          <a:blipFill>
            <a:blip r:embed="rId9"/>
            <a:stretch>
              <a:fillRect l="-19370" t="-10489" r="-13885" b="-4034"/>
            </a:stretch>
          </a:blipFill>
        </p:spPr>
      </p:sp>
      <p:sp>
        <p:nvSpPr>
          <p:cNvPr name="Freeform 6" id="6"/>
          <p:cNvSpPr/>
          <p:nvPr/>
        </p:nvSpPr>
        <p:spPr>
          <a:xfrm flipH="false" flipV="false" rot="0">
            <a:off x="1291622" y="4777436"/>
            <a:ext cx="6573986" cy="5497496"/>
          </a:xfrm>
          <a:custGeom>
            <a:avLst/>
            <a:gdLst/>
            <a:ahLst/>
            <a:cxnLst/>
            <a:rect r="r" b="b" t="t" l="l"/>
            <a:pathLst>
              <a:path h="5497496" w="6573986">
                <a:moveTo>
                  <a:pt x="0" y="0"/>
                </a:moveTo>
                <a:lnTo>
                  <a:pt x="6573986" y="0"/>
                </a:lnTo>
                <a:lnTo>
                  <a:pt x="6573986" y="5497496"/>
                </a:lnTo>
                <a:lnTo>
                  <a:pt x="0" y="5497496"/>
                </a:lnTo>
                <a:lnTo>
                  <a:pt x="0" y="0"/>
                </a:lnTo>
                <a:close/>
              </a:path>
            </a:pathLst>
          </a:custGeom>
          <a:blipFill>
            <a:blip r:embed="rId10"/>
            <a:stretch>
              <a:fillRect l="0" t="0" r="0" b="0"/>
            </a:stretch>
          </a:blipFill>
        </p:spPr>
      </p:sp>
      <p:sp>
        <p:nvSpPr>
          <p:cNvPr name="TextBox 7" id="7"/>
          <p:cNvSpPr txBox="true"/>
          <p:nvPr/>
        </p:nvSpPr>
        <p:spPr>
          <a:xfrm rot="0">
            <a:off x="1291622" y="2113306"/>
            <a:ext cx="10617001" cy="2176166"/>
          </a:xfrm>
          <a:prstGeom prst="rect">
            <a:avLst/>
          </a:prstGeom>
        </p:spPr>
        <p:txBody>
          <a:bodyPr anchor="t" rtlCol="false" tIns="0" lIns="0" bIns="0" rIns="0">
            <a:spAutoFit/>
          </a:bodyPr>
          <a:lstStyle/>
          <a:p>
            <a:pPr algn="l" marL="528773" indent="-264386" lvl="1">
              <a:lnSpc>
                <a:spcPts val="3428"/>
              </a:lnSpc>
              <a:buFont typeface="Arial"/>
              <a:buChar char="•"/>
            </a:pPr>
            <a:r>
              <a:rPr lang="en-US" sz="2449">
                <a:solidFill>
                  <a:srgbClr val="00204B"/>
                </a:solidFill>
                <a:latin typeface="Codec Pro"/>
                <a:ea typeface="Codec Pro"/>
                <a:cs typeface="Codec Pro"/>
                <a:sym typeface="Codec Pro"/>
              </a:rPr>
              <a:t>When we look at embeddings in tsne, we can see it was able to easily cluster parkinsons, but had a bit of trouble differentiating normal and alzheimers</a:t>
            </a:r>
          </a:p>
          <a:p>
            <a:pPr algn="l" marL="528773" indent="-264386" lvl="1">
              <a:lnSpc>
                <a:spcPts val="3428"/>
              </a:lnSpc>
              <a:buFont typeface="Arial"/>
              <a:buChar char="•"/>
            </a:pPr>
            <a:r>
              <a:rPr lang="en-US" sz="2449">
                <a:solidFill>
                  <a:srgbClr val="00204B"/>
                </a:solidFill>
                <a:latin typeface="Codec Pro"/>
                <a:ea typeface="Codec Pro"/>
                <a:cs typeface="Codec Pro"/>
                <a:sym typeface="Codec Pro"/>
              </a:rPr>
              <a:t>I think we’re learning that the parkinsons data isn’t great</a:t>
            </a:r>
          </a:p>
          <a:p>
            <a:pPr algn="l" marL="528773" indent="-264386" lvl="1">
              <a:lnSpc>
                <a:spcPts val="3428"/>
              </a:lnSpc>
              <a:spcBef>
                <a:spcPct val="0"/>
              </a:spcBef>
              <a:buFont typeface="Arial"/>
              <a:buChar char="•"/>
            </a:pPr>
            <a:r>
              <a:rPr lang="en-US" sz="2449">
                <a:solidFill>
                  <a:srgbClr val="00204B"/>
                </a:solidFill>
                <a:latin typeface="Codec Pro"/>
                <a:ea typeface="Codec Pro"/>
                <a:cs typeface="Codec Pro"/>
                <a:sym typeface="Codec Pro"/>
              </a:rPr>
              <a:t>Can see that this was also great at predicting parkinsons</a:t>
            </a:r>
          </a:p>
        </p:txBody>
      </p:sp>
      <p:sp>
        <p:nvSpPr>
          <p:cNvPr name="TextBox 8" id="8"/>
          <p:cNvSpPr txBox="true"/>
          <p:nvPr/>
        </p:nvSpPr>
        <p:spPr>
          <a:xfrm rot="0">
            <a:off x="1028700" y="1162050"/>
            <a:ext cx="9619354"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CNN Model 2 Results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0220839" y="1966549"/>
            <a:ext cx="8067161" cy="5949531"/>
          </a:xfrm>
          <a:custGeom>
            <a:avLst/>
            <a:gdLst/>
            <a:ahLst/>
            <a:cxnLst/>
            <a:rect r="r" b="b" t="t" l="l"/>
            <a:pathLst>
              <a:path h="5949531" w="8067161">
                <a:moveTo>
                  <a:pt x="0" y="0"/>
                </a:moveTo>
                <a:lnTo>
                  <a:pt x="8067161" y="0"/>
                </a:lnTo>
                <a:lnTo>
                  <a:pt x="8067161" y="5949531"/>
                </a:lnTo>
                <a:lnTo>
                  <a:pt x="0" y="5949531"/>
                </a:lnTo>
                <a:lnTo>
                  <a:pt x="0" y="0"/>
                </a:lnTo>
                <a:close/>
              </a:path>
            </a:pathLst>
          </a:custGeom>
          <a:blipFill>
            <a:blip r:embed="rId9"/>
            <a:stretch>
              <a:fillRect l="0" t="0" r="0" b="0"/>
            </a:stretch>
          </a:blipFill>
        </p:spPr>
      </p:sp>
      <p:sp>
        <p:nvSpPr>
          <p:cNvPr name="TextBox 6" id="6"/>
          <p:cNvSpPr txBox="true"/>
          <p:nvPr/>
        </p:nvSpPr>
        <p:spPr>
          <a:xfrm rot="0">
            <a:off x="1028700" y="3116607"/>
            <a:ext cx="8556877" cy="3183551"/>
          </a:xfrm>
          <a:prstGeom prst="rect">
            <a:avLst/>
          </a:prstGeom>
        </p:spPr>
        <p:txBody>
          <a:bodyPr anchor="t" rtlCol="false" tIns="0" lIns="0" bIns="0" rIns="0">
            <a:spAutoFit/>
          </a:bodyPr>
          <a:lstStyle/>
          <a:p>
            <a:pPr algn="l" marL="555792" indent="-277896" lvl="1">
              <a:lnSpc>
                <a:spcPts val="3604"/>
              </a:lnSpc>
              <a:buFont typeface="Arial"/>
              <a:buChar char="•"/>
            </a:pPr>
            <a:r>
              <a:rPr lang="en-US" sz="2574">
                <a:solidFill>
                  <a:srgbClr val="00204B"/>
                </a:solidFill>
                <a:latin typeface="Codec Pro"/>
                <a:ea typeface="Codec Pro"/>
                <a:cs typeface="Codec Pro"/>
                <a:sym typeface="Codec Pro"/>
              </a:rPr>
              <a:t>We took CNN Model 2 and added an additional convolutional layer (128-256), batch normilzation, hidden layer, as well as dropout(0.3)</a:t>
            </a:r>
          </a:p>
          <a:p>
            <a:pPr algn="l" marL="555792" indent="-277896" lvl="1">
              <a:lnSpc>
                <a:spcPts val="3604"/>
              </a:lnSpc>
              <a:buFont typeface="Arial"/>
              <a:buChar char="•"/>
            </a:pPr>
            <a:r>
              <a:rPr lang="en-US" sz="2574">
                <a:solidFill>
                  <a:srgbClr val="00204B"/>
                </a:solidFill>
                <a:latin typeface="Codec Pro"/>
                <a:ea typeface="Codec Pro"/>
                <a:cs typeface="Codec Pro"/>
                <a:sym typeface="Codec Pro"/>
              </a:rPr>
              <a:t>After 100 epochs of training, it reached 80% accuracy and plateaued</a:t>
            </a:r>
          </a:p>
          <a:p>
            <a:pPr algn="l" marL="555792" indent="-277896" lvl="1">
              <a:lnSpc>
                <a:spcPts val="3604"/>
              </a:lnSpc>
              <a:spcBef>
                <a:spcPct val="0"/>
              </a:spcBef>
              <a:buFont typeface="Arial"/>
              <a:buChar char="•"/>
            </a:pPr>
            <a:r>
              <a:rPr lang="en-US" sz="2574">
                <a:solidFill>
                  <a:srgbClr val="00204B"/>
                </a:solidFill>
                <a:latin typeface="Codec Pro"/>
                <a:ea typeface="Codec Pro"/>
                <a:cs typeface="Codec Pro"/>
                <a:sym typeface="Codec Pro"/>
              </a:rPr>
              <a:t>Womp womp, we didn’t want to go down this route further</a:t>
            </a:r>
          </a:p>
        </p:txBody>
      </p:sp>
      <p:sp>
        <p:nvSpPr>
          <p:cNvPr name="TextBox 7" id="7"/>
          <p:cNvSpPr txBox="true"/>
          <p:nvPr/>
        </p:nvSpPr>
        <p:spPr>
          <a:xfrm rot="0">
            <a:off x="1028700" y="1162050"/>
            <a:ext cx="9619354"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CNN Model 3</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416515" y="8832335"/>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2566591">
            <a:off x="11211045" y="3136969"/>
            <a:ext cx="11421234" cy="8780073"/>
          </a:xfrm>
          <a:custGeom>
            <a:avLst/>
            <a:gdLst/>
            <a:ahLst/>
            <a:cxnLst/>
            <a:rect r="r" b="b" t="t" l="l"/>
            <a:pathLst>
              <a:path h="8780073" w="11421234">
                <a:moveTo>
                  <a:pt x="0" y="0"/>
                </a:moveTo>
                <a:lnTo>
                  <a:pt x="11421234" y="0"/>
                </a:lnTo>
                <a:lnTo>
                  <a:pt x="11421234" y="8780073"/>
                </a:lnTo>
                <a:lnTo>
                  <a:pt x="0" y="8780073"/>
                </a:lnTo>
                <a:lnTo>
                  <a:pt x="0" y="0"/>
                </a:lnTo>
                <a:close/>
              </a:path>
            </a:pathLst>
          </a:custGeom>
          <a:blipFill>
            <a:blip r:embed="rId7"/>
            <a:stretch>
              <a:fillRect l="0" t="0" r="0" b="0"/>
            </a:stretch>
          </a:blipFill>
        </p:spPr>
      </p:sp>
      <p:sp>
        <p:nvSpPr>
          <p:cNvPr name="Freeform 5" id="5"/>
          <p:cNvSpPr/>
          <p:nvPr/>
        </p:nvSpPr>
        <p:spPr>
          <a:xfrm flipH="false" flipV="false" rot="0">
            <a:off x="8562489" y="2154042"/>
            <a:ext cx="9725511" cy="8132958"/>
          </a:xfrm>
          <a:custGeom>
            <a:avLst/>
            <a:gdLst/>
            <a:ahLst/>
            <a:cxnLst/>
            <a:rect r="r" b="b" t="t" l="l"/>
            <a:pathLst>
              <a:path h="8132958" w="9725511">
                <a:moveTo>
                  <a:pt x="0" y="0"/>
                </a:moveTo>
                <a:lnTo>
                  <a:pt x="9725511" y="0"/>
                </a:lnTo>
                <a:lnTo>
                  <a:pt x="9725511" y="8132958"/>
                </a:lnTo>
                <a:lnTo>
                  <a:pt x="0" y="8132958"/>
                </a:lnTo>
                <a:lnTo>
                  <a:pt x="0" y="0"/>
                </a:lnTo>
                <a:close/>
              </a:path>
            </a:pathLst>
          </a:custGeom>
          <a:blipFill>
            <a:blip r:embed="rId8"/>
            <a:stretch>
              <a:fillRect l="0" t="0" r="0" b="0"/>
            </a:stretch>
          </a:blipFill>
        </p:spPr>
      </p:sp>
      <p:sp>
        <p:nvSpPr>
          <p:cNvPr name="Freeform 6" id="6"/>
          <p:cNvSpPr/>
          <p:nvPr/>
        </p:nvSpPr>
        <p:spPr>
          <a:xfrm flipH="false" flipV="false" rot="0">
            <a:off x="184117" y="4801000"/>
            <a:ext cx="6358031" cy="5452011"/>
          </a:xfrm>
          <a:custGeom>
            <a:avLst/>
            <a:gdLst/>
            <a:ahLst/>
            <a:cxnLst/>
            <a:rect r="r" b="b" t="t" l="l"/>
            <a:pathLst>
              <a:path h="5452011" w="6358031">
                <a:moveTo>
                  <a:pt x="0" y="0"/>
                </a:moveTo>
                <a:lnTo>
                  <a:pt x="6358031" y="0"/>
                </a:lnTo>
                <a:lnTo>
                  <a:pt x="6358031" y="5452011"/>
                </a:lnTo>
                <a:lnTo>
                  <a:pt x="0" y="5452011"/>
                </a:lnTo>
                <a:lnTo>
                  <a:pt x="0" y="0"/>
                </a:lnTo>
                <a:close/>
              </a:path>
            </a:pathLst>
          </a:custGeom>
          <a:blipFill>
            <a:blip r:embed="rId9"/>
            <a:stretch>
              <a:fillRect l="0" t="0" r="0" b="0"/>
            </a:stretch>
          </a:blipFill>
        </p:spPr>
      </p:sp>
      <p:sp>
        <p:nvSpPr>
          <p:cNvPr name="TextBox 7" id="7"/>
          <p:cNvSpPr txBox="true"/>
          <p:nvPr/>
        </p:nvSpPr>
        <p:spPr>
          <a:xfrm rot="0">
            <a:off x="455890" y="906400"/>
            <a:ext cx="16213198" cy="1122872"/>
          </a:xfrm>
          <a:prstGeom prst="rect">
            <a:avLst/>
          </a:prstGeom>
        </p:spPr>
        <p:txBody>
          <a:bodyPr anchor="t" rtlCol="false" tIns="0" lIns="0" bIns="0" rIns="0">
            <a:spAutoFit/>
          </a:bodyPr>
          <a:lstStyle/>
          <a:p>
            <a:pPr algn="l">
              <a:lnSpc>
                <a:spcPts val="8418"/>
              </a:lnSpc>
            </a:pPr>
            <a:r>
              <a:rPr lang="en-US" sz="8590">
                <a:solidFill>
                  <a:srgbClr val="FFFFFF"/>
                </a:solidFill>
                <a:latin typeface="League Spartan"/>
                <a:ea typeface="League Spartan"/>
                <a:cs typeface="League Spartan"/>
                <a:sym typeface="League Spartan"/>
              </a:rPr>
              <a:t>CNN Model 2- Fine Tuning</a:t>
            </a:r>
          </a:p>
        </p:txBody>
      </p:sp>
      <p:sp>
        <p:nvSpPr>
          <p:cNvPr name="TextBox 8" id="8"/>
          <p:cNvSpPr txBox="true"/>
          <p:nvPr/>
        </p:nvSpPr>
        <p:spPr>
          <a:xfrm rot="0">
            <a:off x="267763" y="2487382"/>
            <a:ext cx="8876237" cy="2222134"/>
          </a:xfrm>
          <a:prstGeom prst="rect">
            <a:avLst/>
          </a:prstGeom>
        </p:spPr>
        <p:txBody>
          <a:bodyPr anchor="t" rtlCol="false" tIns="0" lIns="0" bIns="0" rIns="0">
            <a:spAutoFit/>
          </a:bodyPr>
          <a:lstStyle/>
          <a:p>
            <a:pPr algn="l" marL="542862" indent="-271431" lvl="1">
              <a:lnSpc>
                <a:spcPts val="3520"/>
              </a:lnSpc>
              <a:buFont typeface="Arial"/>
              <a:buChar char="•"/>
            </a:pPr>
            <a:r>
              <a:rPr lang="en-US" sz="2514">
                <a:solidFill>
                  <a:srgbClr val="FFFFFF"/>
                </a:solidFill>
                <a:latin typeface="Codec Pro"/>
                <a:ea typeface="Codec Pro"/>
                <a:cs typeface="Codec Pro"/>
                <a:sym typeface="Codec Pro"/>
              </a:rPr>
              <a:t>Fine tuned CNN V2 on the augmented data, and turned the learning rate down to e^-4</a:t>
            </a:r>
          </a:p>
          <a:p>
            <a:pPr algn="l" marL="542862" indent="-271431" lvl="1">
              <a:lnSpc>
                <a:spcPts val="3520"/>
              </a:lnSpc>
              <a:buFont typeface="Arial"/>
              <a:buChar char="•"/>
            </a:pPr>
            <a:r>
              <a:rPr lang="en-US" sz="2514">
                <a:solidFill>
                  <a:srgbClr val="FFFFFF"/>
                </a:solidFill>
                <a:latin typeface="Codec Pro"/>
                <a:ea typeface="Codec Pro"/>
                <a:cs typeface="Codec Pro"/>
                <a:sym typeface="Codec Pro"/>
              </a:rPr>
              <a:t>Achieved 98% accuracy after 100 more epochs of training</a:t>
            </a:r>
          </a:p>
          <a:p>
            <a:pPr algn="l" marL="542862" indent="-271431" lvl="1">
              <a:lnSpc>
                <a:spcPts val="3520"/>
              </a:lnSpc>
              <a:spcBef>
                <a:spcPct val="0"/>
              </a:spcBef>
              <a:buFont typeface="Arial"/>
              <a:buChar char="•"/>
            </a:pPr>
            <a:r>
              <a:rPr lang="en-US" sz="2514">
                <a:solidFill>
                  <a:srgbClr val="FFFFFF"/>
                </a:solidFill>
                <a:latin typeface="Codec Pro"/>
                <a:ea typeface="Codec Pro"/>
                <a:cs typeface="Codec Pro"/>
                <a:sym typeface="Codec Pro"/>
              </a:rPr>
              <a:t>This the best result we got for the augmented data!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567504" y="757591"/>
            <a:ext cx="12547951" cy="1122872"/>
          </a:xfrm>
          <a:prstGeom prst="rect">
            <a:avLst/>
          </a:prstGeom>
        </p:spPr>
        <p:txBody>
          <a:bodyPr anchor="t" rtlCol="false" tIns="0" lIns="0" bIns="0" rIns="0">
            <a:spAutoFit/>
          </a:bodyPr>
          <a:lstStyle/>
          <a:p>
            <a:pPr algn="l">
              <a:lnSpc>
                <a:spcPts val="8418"/>
              </a:lnSpc>
            </a:pPr>
            <a:r>
              <a:rPr lang="en-US" sz="8590">
                <a:solidFill>
                  <a:srgbClr val="FFFFFF"/>
                </a:solidFill>
                <a:latin typeface="League Spartan"/>
                <a:ea typeface="League Spartan"/>
                <a:cs typeface="League Spartan"/>
                <a:sym typeface="League Spartan"/>
              </a:rPr>
              <a:t>ResNet - Pre-trained</a:t>
            </a:r>
          </a:p>
        </p:txBody>
      </p:sp>
      <p:sp>
        <p:nvSpPr>
          <p:cNvPr name="TextBox 4" id="4"/>
          <p:cNvSpPr txBox="true"/>
          <p:nvPr/>
        </p:nvSpPr>
        <p:spPr>
          <a:xfrm rot="0">
            <a:off x="567504" y="1785213"/>
            <a:ext cx="14353138" cy="9232534"/>
          </a:xfrm>
          <a:prstGeom prst="rect">
            <a:avLst/>
          </a:prstGeom>
        </p:spPr>
        <p:txBody>
          <a:bodyPr anchor="t" rtlCol="false" tIns="0" lIns="0" bIns="0" rIns="0">
            <a:spAutoFit/>
          </a:bodyPr>
          <a:lstStyle/>
          <a:p>
            <a:pPr algn="l">
              <a:lnSpc>
                <a:spcPts val="3520"/>
              </a:lnSpc>
            </a:pPr>
            <a:r>
              <a:rPr lang="en-US" sz="2514">
                <a:solidFill>
                  <a:srgbClr val="FFFFFF"/>
                </a:solidFill>
                <a:latin typeface="Codec Pro"/>
                <a:ea typeface="Codec Pro"/>
                <a:cs typeface="Codec Pro"/>
                <a:sym typeface="Codec Pro"/>
              </a:rPr>
              <a:t>Why we utilized ResNet pre-trained model</a:t>
            </a:r>
          </a:p>
          <a:p>
            <a:pPr algn="l" marL="542862" indent="-271431" lvl="1">
              <a:lnSpc>
                <a:spcPts val="3520"/>
              </a:lnSpc>
              <a:buFont typeface="Arial"/>
              <a:buChar char="•"/>
            </a:pPr>
            <a:r>
              <a:rPr lang="en-US" b="true" sz="2514">
                <a:solidFill>
                  <a:srgbClr val="FFFFFF"/>
                </a:solidFill>
                <a:latin typeface="Codec Pro Bold"/>
                <a:ea typeface="Codec Pro Bold"/>
                <a:cs typeface="Codec Pro Bold"/>
                <a:sym typeface="Codec Pro Bold"/>
              </a:rPr>
              <a:t>Curious</a:t>
            </a:r>
            <a:r>
              <a:rPr lang="en-US" sz="2514">
                <a:solidFill>
                  <a:srgbClr val="FFFFFF"/>
                </a:solidFill>
                <a:latin typeface="Codec Pro"/>
                <a:ea typeface="Codec Pro"/>
                <a:cs typeface="Codec Pro"/>
                <a:sym typeface="Codec Pro"/>
              </a:rPr>
              <a:t> a</a:t>
            </a:r>
            <a:r>
              <a:rPr lang="en-US" b="true" sz="2514">
                <a:solidFill>
                  <a:srgbClr val="FFFFFF"/>
                </a:solidFill>
                <a:latin typeface="Codec Pro Bold"/>
                <a:ea typeface="Codec Pro Bold"/>
                <a:cs typeface="Codec Pro Bold"/>
                <a:sym typeface="Codec Pro Bold"/>
              </a:rPr>
              <a:t>fter CNN model 2 training on augmented data </a:t>
            </a:r>
          </a:p>
          <a:p>
            <a:pPr algn="l" marL="542862" indent="-271431" lvl="1">
              <a:lnSpc>
                <a:spcPts val="3520"/>
              </a:lnSpc>
              <a:buFont typeface="Arial"/>
              <a:buChar char="•"/>
            </a:pPr>
            <a:r>
              <a:rPr lang="en-US" b="true" sz="2514">
                <a:solidFill>
                  <a:srgbClr val="EBF5FE"/>
                </a:solidFill>
                <a:latin typeface="Codec Pro Bold"/>
                <a:ea typeface="Codec Pro Bold"/>
                <a:cs typeface="Codec Pro Bold"/>
                <a:sym typeface="Codec Pro Bold"/>
              </a:rPr>
              <a:t>Faster convergence/feature extraction</a:t>
            </a:r>
          </a:p>
          <a:p>
            <a:pPr algn="l" marL="1085723" indent="-361908" lvl="2">
              <a:lnSpc>
                <a:spcPts val="3520"/>
              </a:lnSpc>
              <a:buFont typeface="Arial"/>
              <a:buChar char="⚬"/>
            </a:pPr>
            <a:r>
              <a:rPr lang="en-US" sz="2514">
                <a:solidFill>
                  <a:srgbClr val="FFFFFF"/>
                </a:solidFill>
                <a:latin typeface="Codec Pro"/>
                <a:ea typeface="Codec Pro"/>
                <a:cs typeface="Codec Pro"/>
                <a:sym typeface="Codec Pro"/>
              </a:rPr>
              <a:t>Already has learned features from other images</a:t>
            </a:r>
          </a:p>
          <a:p>
            <a:pPr algn="l" marL="542862" indent="-271431" lvl="1">
              <a:lnSpc>
                <a:spcPts val="3520"/>
              </a:lnSpc>
              <a:buFont typeface="Arial"/>
              <a:buChar char="•"/>
            </a:pPr>
            <a:r>
              <a:rPr lang="en-US" b="true" sz="2514">
                <a:solidFill>
                  <a:srgbClr val="FFFFFF"/>
                </a:solidFill>
                <a:latin typeface="Codec Pro Bold"/>
                <a:ea typeface="Codec Pro Bold"/>
                <a:cs typeface="Codec Pro Bold"/>
                <a:sym typeface="Codec Pro Bold"/>
              </a:rPr>
              <a:t>Easier to train - find patterns</a:t>
            </a:r>
          </a:p>
          <a:p>
            <a:pPr algn="l" marL="542862" indent="-271431" lvl="1">
              <a:lnSpc>
                <a:spcPts val="3520"/>
              </a:lnSpc>
              <a:buFont typeface="Arial"/>
              <a:buChar char="•"/>
            </a:pPr>
            <a:r>
              <a:rPr lang="en-US" sz="2514">
                <a:solidFill>
                  <a:srgbClr val="FFFFFF"/>
                </a:solidFill>
                <a:latin typeface="Codec Pro"/>
                <a:ea typeface="Codec Pro"/>
                <a:cs typeface="Codec Pro"/>
                <a:sym typeface="Codec Pro"/>
              </a:rPr>
              <a:t>Input</a:t>
            </a:r>
          </a:p>
          <a:p>
            <a:pPr algn="l" marL="1085723" indent="-361908" lvl="2">
              <a:lnSpc>
                <a:spcPts val="3520"/>
              </a:lnSpc>
              <a:buFont typeface="Arial"/>
              <a:buChar char="⚬"/>
            </a:pPr>
            <a:r>
              <a:rPr lang="en-US" sz="2514">
                <a:solidFill>
                  <a:srgbClr val="FFFFFF"/>
                </a:solidFill>
                <a:latin typeface="Codec Pro"/>
                <a:ea typeface="Codec Pro"/>
                <a:cs typeface="Codec Pro"/>
                <a:sym typeface="Codec Pro"/>
              </a:rPr>
              <a:t>Single-channel grayscale images of the augmented data</a:t>
            </a:r>
          </a:p>
          <a:p>
            <a:pPr algn="l">
              <a:lnSpc>
                <a:spcPts val="3520"/>
              </a:lnSpc>
            </a:pPr>
          </a:p>
          <a:p>
            <a:pPr algn="l">
              <a:lnSpc>
                <a:spcPts val="3520"/>
              </a:lnSpc>
            </a:pPr>
            <a:r>
              <a:rPr lang="en-US" sz="2514">
                <a:solidFill>
                  <a:srgbClr val="FFFFFF"/>
                </a:solidFill>
                <a:latin typeface="Codec Pro"/>
                <a:ea typeface="Codec Pro"/>
                <a:cs typeface="Codec Pro"/>
                <a:sym typeface="Codec Pro"/>
              </a:rPr>
              <a:t>Architecture:</a:t>
            </a:r>
          </a:p>
          <a:p>
            <a:pPr algn="l" marL="542862" indent="-271431" lvl="1">
              <a:lnSpc>
                <a:spcPts val="3520"/>
              </a:lnSpc>
              <a:buFont typeface="Arial"/>
              <a:buChar char="•"/>
            </a:pPr>
            <a:r>
              <a:rPr lang="en-US" b="true" sz="2514">
                <a:solidFill>
                  <a:srgbClr val="FFFFFF"/>
                </a:solidFill>
                <a:latin typeface="Codec Pro Bold"/>
                <a:ea typeface="Codec Pro Bold"/>
                <a:cs typeface="Codec Pro Bold"/>
                <a:sym typeface="Codec Pro Bold"/>
              </a:rPr>
              <a:t>ResNet18</a:t>
            </a:r>
          </a:p>
          <a:p>
            <a:pPr algn="l" marL="1085723" indent="-361908" lvl="2">
              <a:lnSpc>
                <a:spcPts val="3520"/>
              </a:lnSpc>
              <a:buFont typeface="Arial"/>
              <a:buChar char="⚬"/>
            </a:pPr>
            <a:r>
              <a:rPr lang="en-US" sz="2514">
                <a:solidFill>
                  <a:srgbClr val="FFFFFF"/>
                </a:solidFill>
                <a:latin typeface="Codec Pro"/>
                <a:ea typeface="Codec Pro"/>
                <a:cs typeface="Codec Pro"/>
                <a:sym typeface="Codec Pro"/>
              </a:rPr>
              <a:t>Convolutional layer with 64 filters</a:t>
            </a:r>
          </a:p>
          <a:p>
            <a:pPr algn="l" marL="1085723" indent="-361908" lvl="2">
              <a:lnSpc>
                <a:spcPts val="3520"/>
              </a:lnSpc>
              <a:buFont typeface="Arial"/>
              <a:buChar char="⚬"/>
            </a:pPr>
            <a:r>
              <a:rPr lang="en-US" sz="2514">
                <a:solidFill>
                  <a:srgbClr val="FFFFFF"/>
                </a:solidFill>
                <a:latin typeface="Codec Pro"/>
                <a:ea typeface="Codec Pro"/>
                <a:cs typeface="Codec Pro"/>
                <a:sym typeface="Codec Pro"/>
              </a:rPr>
              <a:t>7x7 kernal</a:t>
            </a:r>
          </a:p>
          <a:p>
            <a:pPr algn="l" marL="1085723" indent="-361908" lvl="2">
              <a:lnSpc>
                <a:spcPts val="3520"/>
              </a:lnSpc>
              <a:buFont typeface="Arial"/>
              <a:buChar char="⚬"/>
            </a:pPr>
            <a:r>
              <a:rPr lang="en-US" sz="2514">
                <a:solidFill>
                  <a:srgbClr val="FFFFFF"/>
                </a:solidFill>
                <a:latin typeface="Codec Pro"/>
                <a:ea typeface="Codec Pro"/>
                <a:cs typeface="Codec Pro"/>
                <a:sym typeface="Codec Pro"/>
              </a:rPr>
              <a:t>Stride = 2</a:t>
            </a:r>
          </a:p>
          <a:p>
            <a:pPr algn="l" marL="1085723" indent="-361908" lvl="2">
              <a:lnSpc>
                <a:spcPts val="3520"/>
              </a:lnSpc>
              <a:buFont typeface="Arial"/>
              <a:buChar char="⚬"/>
            </a:pPr>
            <a:r>
              <a:rPr lang="en-US" sz="2514">
                <a:solidFill>
                  <a:srgbClr val="FFFFFF"/>
                </a:solidFill>
                <a:latin typeface="Codec Pro"/>
                <a:ea typeface="Codec Pro"/>
                <a:cs typeface="Codec Pro"/>
                <a:sym typeface="Codec Pro"/>
              </a:rPr>
              <a:t>Padding = 3</a:t>
            </a:r>
          </a:p>
          <a:p>
            <a:pPr algn="l" marL="1085723" indent="-361908" lvl="2">
              <a:lnSpc>
                <a:spcPts val="3520"/>
              </a:lnSpc>
              <a:buFont typeface="Arial"/>
              <a:buChar char="⚬"/>
            </a:pPr>
            <a:r>
              <a:rPr lang="en-US" b="true" sz="2514">
                <a:solidFill>
                  <a:srgbClr val="FFFFFF"/>
                </a:solidFill>
                <a:latin typeface="Codec Pro Bold"/>
                <a:ea typeface="Codec Pro Bold"/>
                <a:cs typeface="Codec Pro Bold"/>
                <a:sym typeface="Codec Pro Bold"/>
              </a:rPr>
              <a:t>Residual blocks </a:t>
            </a:r>
            <a:r>
              <a:rPr lang="en-US" sz="2514">
                <a:solidFill>
                  <a:srgbClr val="FFFFFF"/>
                </a:solidFill>
                <a:latin typeface="Codec Pro"/>
                <a:ea typeface="Codec Pro"/>
                <a:cs typeface="Codec Pro"/>
                <a:sym typeface="Codec Pro"/>
              </a:rPr>
              <a:t>with two convolutions for each block (help minimize vanishing gradients - help improve flow of information across layers helping to enhance model’s performance)</a:t>
            </a:r>
          </a:p>
          <a:p>
            <a:pPr algn="l" marL="1085723" indent="-361908" lvl="2">
              <a:lnSpc>
                <a:spcPts val="3520"/>
              </a:lnSpc>
              <a:buFont typeface="Arial"/>
              <a:buChar char="⚬"/>
            </a:pPr>
            <a:r>
              <a:rPr lang="en-US" b="true" sz="2514">
                <a:solidFill>
                  <a:srgbClr val="FFFFFF"/>
                </a:solidFill>
                <a:latin typeface="Codec Pro Bold"/>
                <a:ea typeface="Codec Pro Bold"/>
                <a:cs typeface="Codec Pro Bold"/>
                <a:sym typeface="Codec Pro Bold"/>
              </a:rPr>
              <a:t>Fully connected layer </a:t>
            </a:r>
          </a:p>
          <a:p>
            <a:pPr algn="l">
              <a:lnSpc>
                <a:spcPts val="3520"/>
              </a:lnSpc>
            </a:pPr>
          </a:p>
          <a:p>
            <a:pPr algn="l">
              <a:lnSpc>
                <a:spcPts val="3520"/>
              </a:lnSpc>
            </a:pPr>
          </a:p>
          <a:p>
            <a:pPr algn="l">
              <a:lnSpc>
                <a:spcPts val="3520"/>
              </a:lnSpc>
              <a:spcBef>
                <a:spcPct val="0"/>
              </a:spcBef>
            </a:pPr>
          </a:p>
        </p:txBody>
      </p:sp>
      <p:sp>
        <p:nvSpPr>
          <p:cNvPr name="Freeform 5" id="5"/>
          <p:cNvSpPr/>
          <p:nvPr/>
        </p:nvSpPr>
        <p:spPr>
          <a:xfrm flipH="false" flipV="false" rot="0">
            <a:off x="16416515" y="8832335"/>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2566591">
            <a:off x="12136703" y="2086222"/>
            <a:ext cx="11421234" cy="8780073"/>
          </a:xfrm>
          <a:custGeom>
            <a:avLst/>
            <a:gdLst/>
            <a:ahLst/>
            <a:cxnLst/>
            <a:rect r="r" b="b" t="t" l="l"/>
            <a:pathLst>
              <a:path h="8780073" w="11421234">
                <a:moveTo>
                  <a:pt x="0" y="0"/>
                </a:moveTo>
                <a:lnTo>
                  <a:pt x="11421234" y="0"/>
                </a:lnTo>
                <a:lnTo>
                  <a:pt x="11421234" y="8780073"/>
                </a:lnTo>
                <a:lnTo>
                  <a:pt x="0" y="8780073"/>
                </a:lnTo>
                <a:lnTo>
                  <a:pt x="0" y="0"/>
                </a:lnTo>
                <a:close/>
              </a:path>
            </a:pathLst>
          </a:custGeom>
          <a:blipFill>
            <a:blip r:embed="rId7"/>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5133652" y="4809068"/>
            <a:ext cx="2795669" cy="1370692"/>
          </a:xfrm>
          <a:custGeom>
            <a:avLst/>
            <a:gdLst/>
            <a:ahLst/>
            <a:cxnLst/>
            <a:rect r="r" b="b" t="t" l="l"/>
            <a:pathLst>
              <a:path h="1370692" w="2795669">
                <a:moveTo>
                  <a:pt x="0" y="0"/>
                </a:moveTo>
                <a:lnTo>
                  <a:pt x="2795669" y="0"/>
                </a:lnTo>
                <a:lnTo>
                  <a:pt x="2795669" y="1370692"/>
                </a:lnTo>
                <a:lnTo>
                  <a:pt x="0" y="1370692"/>
                </a:lnTo>
                <a:lnTo>
                  <a:pt x="0" y="0"/>
                </a:lnTo>
                <a:close/>
              </a:path>
            </a:pathLst>
          </a:custGeom>
          <a:blipFill>
            <a:blip r:embed="rId9"/>
            <a:stretch>
              <a:fillRect l="0" t="0" r="0" b="0"/>
            </a:stretch>
          </a:blipFill>
        </p:spPr>
      </p:sp>
      <p:sp>
        <p:nvSpPr>
          <p:cNvPr name="Freeform 6" id="6"/>
          <p:cNvSpPr/>
          <p:nvPr/>
        </p:nvSpPr>
        <p:spPr>
          <a:xfrm flipH="false" flipV="false" rot="0">
            <a:off x="6031554" y="2208556"/>
            <a:ext cx="8812209" cy="7259057"/>
          </a:xfrm>
          <a:custGeom>
            <a:avLst/>
            <a:gdLst/>
            <a:ahLst/>
            <a:cxnLst/>
            <a:rect r="r" b="b" t="t" l="l"/>
            <a:pathLst>
              <a:path h="7259057" w="8812209">
                <a:moveTo>
                  <a:pt x="0" y="0"/>
                </a:moveTo>
                <a:lnTo>
                  <a:pt x="8812209" y="0"/>
                </a:lnTo>
                <a:lnTo>
                  <a:pt x="8812209" y="7259057"/>
                </a:lnTo>
                <a:lnTo>
                  <a:pt x="0" y="7259057"/>
                </a:lnTo>
                <a:lnTo>
                  <a:pt x="0" y="0"/>
                </a:lnTo>
                <a:close/>
              </a:path>
            </a:pathLst>
          </a:custGeom>
          <a:blipFill>
            <a:blip r:embed="rId10"/>
            <a:stretch>
              <a:fillRect l="0" t="0" r="0" b="0"/>
            </a:stretch>
          </a:blipFill>
        </p:spPr>
      </p:sp>
      <p:sp>
        <p:nvSpPr>
          <p:cNvPr name="TextBox 7" id="7"/>
          <p:cNvSpPr txBox="true"/>
          <p:nvPr/>
        </p:nvSpPr>
        <p:spPr>
          <a:xfrm rot="0">
            <a:off x="1028700" y="852317"/>
            <a:ext cx="12077721"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ResNet Results </a:t>
            </a:r>
          </a:p>
        </p:txBody>
      </p:sp>
      <p:sp>
        <p:nvSpPr>
          <p:cNvPr name="TextBox 8" id="8"/>
          <p:cNvSpPr txBox="true"/>
          <p:nvPr/>
        </p:nvSpPr>
        <p:spPr>
          <a:xfrm rot="0">
            <a:off x="476323" y="2889622"/>
            <a:ext cx="4953508" cy="3462041"/>
          </a:xfrm>
          <a:prstGeom prst="rect">
            <a:avLst/>
          </a:prstGeom>
        </p:spPr>
        <p:txBody>
          <a:bodyPr anchor="t" rtlCol="false" tIns="0" lIns="0" bIns="0" rIns="0">
            <a:spAutoFit/>
          </a:bodyPr>
          <a:lstStyle/>
          <a:p>
            <a:pPr algn="l" marL="528773" indent="-264386" lvl="1">
              <a:lnSpc>
                <a:spcPts val="3428"/>
              </a:lnSpc>
              <a:buFont typeface="Arial"/>
              <a:buChar char="•"/>
            </a:pPr>
            <a:r>
              <a:rPr lang="en-US" sz="2449">
                <a:solidFill>
                  <a:srgbClr val="00204B"/>
                </a:solidFill>
                <a:latin typeface="Codec Pro"/>
                <a:ea typeface="Codec Pro"/>
                <a:cs typeface="Codec Pro"/>
                <a:sym typeface="Codec Pro"/>
              </a:rPr>
              <a:t>ResNet on the augmented data performed 83%</a:t>
            </a:r>
          </a:p>
          <a:p>
            <a:pPr algn="l" marL="528773" indent="-264386" lvl="1">
              <a:lnSpc>
                <a:spcPts val="3428"/>
              </a:lnSpc>
              <a:buFont typeface="Arial"/>
              <a:buChar char="•"/>
            </a:pPr>
            <a:r>
              <a:rPr lang="en-US" sz="2449">
                <a:solidFill>
                  <a:srgbClr val="00204B"/>
                </a:solidFill>
                <a:latin typeface="Codec Pro"/>
                <a:ea typeface="Codec Pro"/>
                <a:cs typeface="Codec Pro"/>
                <a:sym typeface="Codec Pro"/>
              </a:rPr>
              <a:t>Model often misclassifies Alzheimer’s and Normal MRI scans</a:t>
            </a:r>
          </a:p>
          <a:p>
            <a:pPr algn="l" marL="1057545" indent="-352515" lvl="2">
              <a:lnSpc>
                <a:spcPts val="3428"/>
              </a:lnSpc>
              <a:buFont typeface="Arial"/>
              <a:buChar char="⚬"/>
            </a:pPr>
            <a:r>
              <a:rPr lang="en-US" sz="2449">
                <a:solidFill>
                  <a:srgbClr val="00204B"/>
                </a:solidFill>
                <a:latin typeface="Codec Pro"/>
                <a:ea typeface="Codec Pro"/>
                <a:cs typeface="Codec Pro"/>
                <a:sym typeface="Codec Pro"/>
              </a:rPr>
              <a:t>Similar brain images</a:t>
            </a:r>
          </a:p>
          <a:p>
            <a:pPr algn="l" marL="528773" indent="-264386" lvl="1">
              <a:lnSpc>
                <a:spcPts val="3428"/>
              </a:lnSpc>
              <a:spcBef>
                <a:spcPct val="0"/>
              </a:spcBef>
              <a:buFont typeface="Arial"/>
              <a:buChar char="•"/>
            </a:pPr>
            <a:r>
              <a:rPr lang="en-US" sz="2449">
                <a:solidFill>
                  <a:srgbClr val="00204B"/>
                </a:solidFill>
                <a:latin typeface="Codec Pro"/>
                <a:ea typeface="Codec Pro"/>
                <a:cs typeface="Codec Pro"/>
                <a:sym typeface="Codec Pro"/>
              </a:rPr>
              <a:t>Parkinson’s was rarely misclassified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163311" y="5072622"/>
            <a:ext cx="5777516" cy="2112853"/>
          </a:xfrm>
          <a:custGeom>
            <a:avLst/>
            <a:gdLst/>
            <a:ahLst/>
            <a:cxnLst/>
            <a:rect r="r" b="b" t="t" l="l"/>
            <a:pathLst>
              <a:path h="2112853" w="5777516">
                <a:moveTo>
                  <a:pt x="0" y="0"/>
                </a:moveTo>
                <a:lnTo>
                  <a:pt x="5777516" y="0"/>
                </a:lnTo>
                <a:lnTo>
                  <a:pt x="5777516" y="2112854"/>
                </a:lnTo>
                <a:lnTo>
                  <a:pt x="0" y="2112854"/>
                </a:lnTo>
                <a:lnTo>
                  <a:pt x="0" y="0"/>
                </a:lnTo>
                <a:close/>
              </a:path>
            </a:pathLst>
          </a:custGeom>
          <a:blipFill>
            <a:blip r:embed="rId5"/>
            <a:stretch>
              <a:fillRect l="0" t="0" r="0" b="-466727"/>
            </a:stretch>
          </a:blipFill>
        </p:spPr>
      </p:sp>
      <p:sp>
        <p:nvSpPr>
          <p:cNvPr name="Freeform 4" id="4"/>
          <p:cNvSpPr/>
          <p:nvPr/>
        </p:nvSpPr>
        <p:spPr>
          <a:xfrm flipH="false" flipV="false" rot="0">
            <a:off x="12163311" y="2907437"/>
            <a:ext cx="5777516" cy="2027628"/>
          </a:xfrm>
          <a:custGeom>
            <a:avLst/>
            <a:gdLst/>
            <a:ahLst/>
            <a:cxnLst/>
            <a:rect r="r" b="b" t="t" l="l"/>
            <a:pathLst>
              <a:path h="2027628" w="5777516">
                <a:moveTo>
                  <a:pt x="0" y="0"/>
                </a:moveTo>
                <a:lnTo>
                  <a:pt x="5777516" y="0"/>
                </a:lnTo>
                <a:lnTo>
                  <a:pt x="5777516" y="2027628"/>
                </a:lnTo>
                <a:lnTo>
                  <a:pt x="0" y="2027628"/>
                </a:lnTo>
                <a:lnTo>
                  <a:pt x="0" y="0"/>
                </a:lnTo>
                <a:close/>
              </a:path>
            </a:pathLst>
          </a:custGeom>
          <a:blipFill>
            <a:blip r:embed="rId5"/>
            <a:stretch>
              <a:fillRect l="0" t="-367584" r="-342" b="-124983"/>
            </a:stretch>
          </a:blipFill>
        </p:spPr>
      </p:sp>
      <p:sp>
        <p:nvSpPr>
          <p:cNvPr name="Freeform 5" id="5"/>
          <p:cNvSpPr/>
          <p:nvPr/>
        </p:nvSpPr>
        <p:spPr>
          <a:xfrm flipH="false" flipV="false" rot="0">
            <a:off x="12163311" y="644773"/>
            <a:ext cx="5777516" cy="2120192"/>
          </a:xfrm>
          <a:custGeom>
            <a:avLst/>
            <a:gdLst/>
            <a:ahLst/>
            <a:cxnLst/>
            <a:rect r="r" b="b" t="t" l="l"/>
            <a:pathLst>
              <a:path h="2120192" w="5777516">
                <a:moveTo>
                  <a:pt x="0" y="0"/>
                </a:moveTo>
                <a:lnTo>
                  <a:pt x="5777516" y="0"/>
                </a:lnTo>
                <a:lnTo>
                  <a:pt x="5777516" y="2120192"/>
                </a:lnTo>
                <a:lnTo>
                  <a:pt x="0" y="2120192"/>
                </a:lnTo>
                <a:lnTo>
                  <a:pt x="0" y="0"/>
                </a:lnTo>
                <a:close/>
              </a:path>
            </a:pathLst>
          </a:custGeom>
          <a:blipFill>
            <a:blip r:embed="rId6"/>
            <a:stretch>
              <a:fillRect l="0" t="-2285" r="0" b="-2285"/>
            </a:stretch>
          </a:blipFill>
        </p:spPr>
      </p:sp>
      <p:sp>
        <p:nvSpPr>
          <p:cNvPr name="TextBox 6" id="6"/>
          <p:cNvSpPr txBox="true"/>
          <p:nvPr/>
        </p:nvSpPr>
        <p:spPr>
          <a:xfrm rot="0">
            <a:off x="205494" y="3848449"/>
            <a:ext cx="16482644" cy="7306020"/>
          </a:xfrm>
          <a:prstGeom prst="rect">
            <a:avLst/>
          </a:prstGeom>
        </p:spPr>
        <p:txBody>
          <a:bodyPr anchor="t" rtlCol="false" tIns="0" lIns="0" bIns="0" rIns="0">
            <a:spAutoFit/>
          </a:bodyPr>
          <a:lstStyle/>
          <a:p>
            <a:pPr algn="l">
              <a:lnSpc>
                <a:spcPts val="2676"/>
              </a:lnSpc>
            </a:pPr>
            <a:r>
              <a:rPr lang="en-US" sz="1911">
                <a:solidFill>
                  <a:srgbClr val="FFFFFF"/>
                </a:solidFill>
                <a:latin typeface="Codec Pro"/>
                <a:ea typeface="Codec Pro"/>
                <a:cs typeface="Codec Pro"/>
                <a:sym typeface="Codec Pro"/>
              </a:rPr>
              <a:t>Architecture:</a:t>
            </a:r>
          </a:p>
          <a:p>
            <a:pPr algn="l" marL="412679" indent="-206339" lvl="1">
              <a:lnSpc>
                <a:spcPts val="2676"/>
              </a:lnSpc>
              <a:buFont typeface="Arial"/>
              <a:buChar char="•"/>
            </a:pPr>
            <a:r>
              <a:rPr lang="en-US" b="true" sz="1911">
                <a:solidFill>
                  <a:srgbClr val="FFFFFF"/>
                </a:solidFill>
                <a:latin typeface="Codec Pro Bold"/>
                <a:ea typeface="Codec Pro Bold"/>
                <a:cs typeface="Codec Pro Bold"/>
                <a:sym typeface="Codec Pro Bold"/>
              </a:rPr>
              <a:t>Architecture of the previously mentioned CNN Model 2 </a:t>
            </a:r>
          </a:p>
          <a:p>
            <a:pPr algn="l" marL="825358" indent="-275119" lvl="2">
              <a:lnSpc>
                <a:spcPts val="2676"/>
              </a:lnSpc>
              <a:buFont typeface="Arial"/>
              <a:buChar char="⚬"/>
            </a:pPr>
            <a:r>
              <a:rPr lang="en-US" sz="1911">
                <a:solidFill>
                  <a:srgbClr val="FFFFFF"/>
                </a:solidFill>
                <a:latin typeface="Codec Pro"/>
                <a:ea typeface="Codec Pro"/>
                <a:cs typeface="Codec Pro"/>
                <a:sym typeface="Codec Pro"/>
              </a:rPr>
              <a:t>Three conv layers</a:t>
            </a:r>
          </a:p>
          <a:p>
            <a:pPr algn="l" marL="825358" indent="-275119" lvl="2">
              <a:lnSpc>
                <a:spcPts val="2676"/>
              </a:lnSpc>
              <a:buFont typeface="Arial"/>
              <a:buChar char="⚬"/>
            </a:pPr>
            <a:r>
              <a:rPr lang="en-US" sz="1911">
                <a:solidFill>
                  <a:srgbClr val="FFFFFF"/>
                </a:solidFill>
                <a:latin typeface="Codec Pro"/>
                <a:ea typeface="Codec Pro"/>
                <a:cs typeface="Codec Pro"/>
                <a:sym typeface="Codec Pro"/>
              </a:rPr>
              <a:t>Two fully connected layers</a:t>
            </a:r>
          </a:p>
          <a:p>
            <a:pPr algn="l" marL="412679" indent="-206339" lvl="1">
              <a:lnSpc>
                <a:spcPts val="2676"/>
              </a:lnSpc>
              <a:buFont typeface="Arial"/>
              <a:buChar char="•"/>
            </a:pPr>
            <a:r>
              <a:rPr lang="en-US" sz="1911">
                <a:solidFill>
                  <a:srgbClr val="FFFFFF"/>
                </a:solidFill>
                <a:latin typeface="Codec Pro"/>
                <a:ea typeface="Codec Pro"/>
                <a:cs typeface="Codec Pro"/>
                <a:sym typeface="Codec Pro"/>
              </a:rPr>
              <a:t>Feature map storage</a:t>
            </a:r>
          </a:p>
          <a:p>
            <a:pPr algn="l" marL="825358" indent="-275119" lvl="2">
              <a:lnSpc>
                <a:spcPts val="2676"/>
              </a:lnSpc>
              <a:buFont typeface="Arial"/>
              <a:buChar char="⚬"/>
            </a:pPr>
            <a:r>
              <a:rPr lang="en-US" b="true" sz="1911">
                <a:solidFill>
                  <a:srgbClr val="FFFFFF"/>
                </a:solidFill>
                <a:latin typeface="Codec Pro Bold"/>
                <a:ea typeface="Codec Pro Bold"/>
                <a:cs typeface="Codec Pro Bold"/>
                <a:sym typeface="Codec Pro Bold"/>
              </a:rPr>
              <a:t>Use </a:t>
            </a:r>
            <a:r>
              <a:rPr lang="en-US" b="true" sz="1911">
                <a:solidFill>
                  <a:srgbClr val="FFFFFF"/>
                </a:solidFill>
                <a:latin typeface="Codec Pro Bold"/>
                <a:ea typeface="Codec Pro Bold"/>
                <a:cs typeface="Codec Pro Bold"/>
                <a:sym typeface="Codec Pro Bold"/>
              </a:rPr>
              <a:t>activations from last convolutional layer </a:t>
            </a:r>
          </a:p>
          <a:p>
            <a:pPr algn="l" marL="825358" indent="-275119" lvl="2">
              <a:lnSpc>
                <a:spcPts val="2676"/>
              </a:lnSpc>
              <a:buFont typeface="Arial"/>
              <a:buChar char="⚬"/>
            </a:pPr>
            <a:r>
              <a:rPr lang="en-US" b="true" sz="1911">
                <a:solidFill>
                  <a:srgbClr val="FFFFFF"/>
                </a:solidFill>
                <a:latin typeface="Codec Pro Bold"/>
                <a:ea typeface="Codec Pro Bold"/>
                <a:cs typeface="Codec Pro Bold"/>
                <a:sym typeface="Codec Pro Bold"/>
              </a:rPr>
              <a:t>Last layer contains representation of the most complex features the model learned to classify                                                                            its inputs and is the most capable of helping us understand model’s behavior</a:t>
            </a:r>
          </a:p>
          <a:p>
            <a:pPr algn="l" marL="412679" indent="-206339" lvl="1">
              <a:lnSpc>
                <a:spcPts val="2676"/>
              </a:lnSpc>
              <a:buFont typeface="Arial"/>
              <a:buChar char="•"/>
            </a:pPr>
            <a:r>
              <a:rPr lang="en-US" sz="1911">
                <a:solidFill>
                  <a:srgbClr val="FFFFFF"/>
                </a:solidFill>
                <a:latin typeface="Codec Pro"/>
                <a:ea typeface="Codec Pro"/>
                <a:cs typeface="Codec Pro"/>
                <a:sym typeface="Codec Pro"/>
              </a:rPr>
              <a:t>Gradient storage (backprop)</a:t>
            </a:r>
          </a:p>
          <a:p>
            <a:pPr algn="l" marL="825358" indent="-275119" lvl="2">
              <a:lnSpc>
                <a:spcPts val="2676"/>
              </a:lnSpc>
              <a:buFont typeface="Arial"/>
              <a:buChar char="⚬"/>
            </a:pPr>
            <a:r>
              <a:rPr lang="en-US" b="true" sz="1911">
                <a:solidFill>
                  <a:srgbClr val="FFFFFF"/>
                </a:solidFill>
                <a:latin typeface="Codec Pro Bold"/>
                <a:ea typeface="Codec Pro Bold"/>
                <a:cs typeface="Codec Pro Bold"/>
                <a:sym typeface="Codec Pro Bold"/>
              </a:rPr>
              <a:t>Stores gradients during back propagation</a:t>
            </a:r>
          </a:p>
          <a:p>
            <a:pPr algn="l" marL="412679" indent="-206339" lvl="1">
              <a:lnSpc>
                <a:spcPts val="2676"/>
              </a:lnSpc>
              <a:buFont typeface="Arial"/>
              <a:buChar char="•"/>
            </a:pPr>
            <a:r>
              <a:rPr lang="en-US" b="true" sz="1911">
                <a:solidFill>
                  <a:srgbClr val="FFFFFF"/>
                </a:solidFill>
                <a:latin typeface="Codec Pro Bold"/>
                <a:ea typeface="Codec Pro Bold"/>
                <a:cs typeface="Codec Pro Bold"/>
                <a:sym typeface="Codec Pro Bold"/>
              </a:rPr>
              <a:t>Weighted Sum of Feature maps</a:t>
            </a:r>
          </a:p>
          <a:p>
            <a:pPr algn="l" marL="825358" indent="-275119" lvl="2">
              <a:lnSpc>
                <a:spcPts val="2676"/>
              </a:lnSpc>
              <a:buFont typeface="Arial"/>
              <a:buChar char="⚬"/>
            </a:pPr>
            <a:r>
              <a:rPr lang="en-US" sz="1911">
                <a:solidFill>
                  <a:srgbClr val="FFFFFF"/>
                </a:solidFill>
                <a:latin typeface="Codec Pro"/>
                <a:ea typeface="Codec Pro"/>
                <a:cs typeface="Codec Pro"/>
                <a:sym typeface="Codec Pro"/>
              </a:rPr>
              <a:t>G</a:t>
            </a:r>
            <a:r>
              <a:rPr lang="en-US" sz="1911">
                <a:solidFill>
                  <a:srgbClr val="FFFFFF"/>
                </a:solidFill>
                <a:latin typeface="Codec Pro"/>
                <a:ea typeface="Codec Pro"/>
                <a:cs typeface="Codec Pro"/>
                <a:sym typeface="Codec Pro"/>
              </a:rPr>
              <a:t>radients stored are pooled to generate weights for each feature map in last conv layer</a:t>
            </a:r>
          </a:p>
          <a:p>
            <a:pPr algn="l" marL="825358" indent="-275119" lvl="2">
              <a:lnSpc>
                <a:spcPts val="2676"/>
              </a:lnSpc>
              <a:buFont typeface="Arial"/>
              <a:buChar char="⚬"/>
            </a:pPr>
            <a:r>
              <a:rPr lang="en-US" sz="1911">
                <a:solidFill>
                  <a:srgbClr val="FFFFFF"/>
                </a:solidFill>
                <a:latin typeface="Codec Pro"/>
                <a:ea typeface="Codec Pro"/>
                <a:cs typeface="Codec Pro"/>
                <a:sym typeface="Codec Pro"/>
              </a:rPr>
              <a:t>Weights represent the importance of each feature map to the predicted class, multiply each feature map by weight to get weighted sum</a:t>
            </a:r>
          </a:p>
          <a:p>
            <a:pPr algn="l" marL="825358" indent="-275119" lvl="2">
              <a:lnSpc>
                <a:spcPts val="2676"/>
              </a:lnSpc>
              <a:buFont typeface="Arial"/>
              <a:buChar char="⚬"/>
            </a:pPr>
            <a:r>
              <a:rPr lang="en-US" b="true" sz="1911">
                <a:solidFill>
                  <a:srgbClr val="FFFFFF"/>
                </a:solidFill>
                <a:latin typeface="Codec Pro Bold"/>
                <a:ea typeface="Codec Pro Bold"/>
                <a:cs typeface="Codec Pro Bold"/>
                <a:sym typeface="Codec Pro Bold"/>
              </a:rPr>
              <a:t>Weighted sum produces class activation map (heatmap) highlighting which regions of the image contributed most to the predicted class</a:t>
            </a:r>
          </a:p>
          <a:p>
            <a:pPr algn="l" marL="412679" indent="-206339" lvl="1">
              <a:lnSpc>
                <a:spcPts val="2676"/>
              </a:lnSpc>
              <a:buFont typeface="Arial"/>
              <a:buChar char="•"/>
            </a:pPr>
            <a:r>
              <a:rPr lang="en-US" b="true" sz="1911">
                <a:solidFill>
                  <a:srgbClr val="FFFFFF"/>
                </a:solidFill>
                <a:latin typeface="Codec Pro Bold"/>
                <a:ea typeface="Codec Pro Bold"/>
                <a:cs typeface="Codec Pro Bold"/>
                <a:sym typeface="Codec Pro Bold"/>
              </a:rPr>
              <a:t>Use ReLU activation to remove negative values to ensure only + contributing regions are shown</a:t>
            </a:r>
          </a:p>
          <a:p>
            <a:pPr algn="l" marL="412679" indent="-206339" lvl="1">
              <a:lnSpc>
                <a:spcPts val="2676"/>
              </a:lnSpc>
              <a:buFont typeface="Arial"/>
              <a:buChar char="•"/>
            </a:pPr>
            <a:r>
              <a:rPr lang="en-US" b="true" sz="1911">
                <a:solidFill>
                  <a:srgbClr val="FFFFFF"/>
                </a:solidFill>
                <a:latin typeface="Codec Pro Bold"/>
                <a:ea typeface="Codec Pro Bold"/>
                <a:cs typeface="Codec Pro Bold"/>
                <a:sym typeface="Codec Pro Bold"/>
              </a:rPr>
              <a:t>Overlay activation map onto input image to visualize important regions</a:t>
            </a:r>
          </a:p>
          <a:p>
            <a:pPr algn="l">
              <a:lnSpc>
                <a:spcPts val="3235"/>
              </a:lnSpc>
            </a:pPr>
          </a:p>
          <a:p>
            <a:pPr algn="l">
              <a:lnSpc>
                <a:spcPts val="3235"/>
              </a:lnSpc>
            </a:pPr>
          </a:p>
          <a:p>
            <a:pPr algn="l">
              <a:lnSpc>
                <a:spcPts val="3235"/>
              </a:lnSpc>
              <a:spcBef>
                <a:spcPct val="0"/>
              </a:spcBef>
            </a:pPr>
          </a:p>
        </p:txBody>
      </p:sp>
      <p:sp>
        <p:nvSpPr>
          <p:cNvPr name="TextBox 7" id="7"/>
          <p:cNvSpPr txBox="true"/>
          <p:nvPr/>
        </p:nvSpPr>
        <p:spPr>
          <a:xfrm rot="0">
            <a:off x="535637" y="588296"/>
            <a:ext cx="10941099" cy="974955"/>
          </a:xfrm>
          <a:prstGeom prst="rect">
            <a:avLst/>
          </a:prstGeom>
        </p:spPr>
        <p:txBody>
          <a:bodyPr anchor="t" rtlCol="false" tIns="0" lIns="0" bIns="0" rIns="0">
            <a:spAutoFit/>
          </a:bodyPr>
          <a:lstStyle/>
          <a:p>
            <a:pPr algn="l">
              <a:lnSpc>
                <a:spcPts val="7340"/>
              </a:lnSpc>
            </a:pPr>
            <a:r>
              <a:rPr lang="en-US" sz="7490">
                <a:solidFill>
                  <a:srgbClr val="FFFFFF"/>
                </a:solidFill>
                <a:latin typeface="League Spartan"/>
                <a:ea typeface="League Spartan"/>
                <a:cs typeface="League Spartan"/>
                <a:sym typeface="League Spartan"/>
              </a:rPr>
              <a:t>Grad-CAM</a:t>
            </a:r>
          </a:p>
        </p:txBody>
      </p:sp>
      <p:sp>
        <p:nvSpPr>
          <p:cNvPr name="TextBox 8" id="8"/>
          <p:cNvSpPr txBox="true"/>
          <p:nvPr/>
        </p:nvSpPr>
        <p:spPr>
          <a:xfrm rot="0">
            <a:off x="205494" y="1495547"/>
            <a:ext cx="11271242" cy="3232289"/>
          </a:xfrm>
          <a:prstGeom prst="rect">
            <a:avLst/>
          </a:prstGeom>
        </p:spPr>
        <p:txBody>
          <a:bodyPr anchor="t" rtlCol="false" tIns="0" lIns="0" bIns="0" rIns="0">
            <a:spAutoFit/>
          </a:bodyPr>
          <a:lstStyle/>
          <a:p>
            <a:pPr algn="l">
              <a:lnSpc>
                <a:spcPts val="2814"/>
              </a:lnSpc>
            </a:pPr>
            <a:r>
              <a:rPr lang="en-US" sz="2010" b="true">
                <a:solidFill>
                  <a:srgbClr val="FFFFFF"/>
                </a:solidFill>
                <a:latin typeface="Codec Pro Bold"/>
                <a:ea typeface="Codec Pro Bold"/>
                <a:cs typeface="Codec Pro Bold"/>
                <a:sym typeface="Codec Pro Bold"/>
              </a:rPr>
              <a:t>Why we used Grad-CAM:</a:t>
            </a:r>
          </a:p>
          <a:p>
            <a:pPr algn="l" marL="434041" indent="-217021" lvl="1">
              <a:lnSpc>
                <a:spcPts val="2814"/>
              </a:lnSpc>
              <a:buFont typeface="Arial"/>
              <a:buChar char="•"/>
            </a:pPr>
            <a:r>
              <a:rPr lang="en-US" b="true" sz="2010">
                <a:solidFill>
                  <a:srgbClr val="FFFFFF"/>
                </a:solidFill>
                <a:latin typeface="Codec Pro Bold"/>
                <a:ea typeface="Codec Pro Bold"/>
                <a:cs typeface="Codec Pro Bold"/>
                <a:sym typeface="Codec Pro Bold"/>
              </a:rPr>
              <a:t>Difficult to fully understand numeric values, helpful for visualization</a:t>
            </a:r>
          </a:p>
          <a:p>
            <a:pPr algn="l" marL="868083" indent="-289361" lvl="2">
              <a:lnSpc>
                <a:spcPts val="2814"/>
              </a:lnSpc>
              <a:buFont typeface="Arial"/>
              <a:buChar char="⚬"/>
            </a:pPr>
            <a:r>
              <a:rPr lang="en-US" b="true" sz="2010">
                <a:solidFill>
                  <a:srgbClr val="FFFFFF"/>
                </a:solidFill>
                <a:latin typeface="Codec Pro Bold"/>
                <a:ea typeface="Codec Pro Bold"/>
                <a:cs typeface="Codec Pro Bold"/>
                <a:sym typeface="Codec Pro Bold"/>
              </a:rPr>
              <a:t>Generated heat maps </a:t>
            </a:r>
            <a:r>
              <a:rPr lang="en-US" sz="2010">
                <a:solidFill>
                  <a:srgbClr val="FFFFFF"/>
                </a:solidFill>
                <a:latin typeface="Codec Pro"/>
                <a:ea typeface="Codec Pro"/>
                <a:cs typeface="Codec Pro"/>
                <a:sym typeface="Codec Pro"/>
              </a:rPr>
              <a:t>to highlight the important region of our brain images that contribute to the model prediction of  a certain class</a:t>
            </a:r>
          </a:p>
          <a:p>
            <a:pPr algn="l" marL="434041" indent="-217021" lvl="1">
              <a:lnSpc>
                <a:spcPts val="2814"/>
              </a:lnSpc>
              <a:buFont typeface="Arial"/>
              <a:buChar char="•"/>
            </a:pPr>
            <a:r>
              <a:rPr lang="en-US" b="true" sz="2010">
                <a:solidFill>
                  <a:srgbClr val="FFFFFF"/>
                </a:solidFill>
                <a:latin typeface="Codec Pro Bold"/>
                <a:ea typeface="Codec Pro Bold"/>
                <a:cs typeface="Codec Pro Bold"/>
                <a:sym typeface="Codec Pro Bold"/>
              </a:rPr>
              <a:t>Interested in understanding which aspect of input image contributed to the model’s classification of the disease</a:t>
            </a:r>
          </a:p>
          <a:p>
            <a:pPr algn="l">
              <a:lnSpc>
                <a:spcPts val="2814"/>
              </a:lnSpc>
            </a:pPr>
          </a:p>
          <a:p>
            <a:pPr algn="l">
              <a:lnSpc>
                <a:spcPts val="2814"/>
              </a:lnSpc>
            </a:pPr>
          </a:p>
          <a:p>
            <a:pPr algn="l">
              <a:lnSpc>
                <a:spcPts val="2814"/>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284387" y="2020440"/>
            <a:ext cx="7003613" cy="7675679"/>
          </a:xfrm>
          <a:prstGeom prst="rect">
            <a:avLst/>
          </a:prstGeom>
        </p:spPr>
        <p:txBody>
          <a:bodyPr anchor="t" rtlCol="false" tIns="0" lIns="0" bIns="0" rIns="0">
            <a:spAutoFit/>
          </a:bodyPr>
          <a:lstStyle/>
          <a:p>
            <a:pPr algn="l">
              <a:lnSpc>
                <a:spcPts val="2475"/>
              </a:lnSpc>
            </a:pPr>
          </a:p>
          <a:p>
            <a:pPr algn="l">
              <a:lnSpc>
                <a:spcPts val="2475"/>
              </a:lnSpc>
            </a:pPr>
          </a:p>
          <a:p>
            <a:pPr algn="l">
              <a:lnSpc>
                <a:spcPts val="3528"/>
              </a:lnSpc>
            </a:pPr>
            <a:r>
              <a:rPr lang="en-US" sz="2520">
                <a:solidFill>
                  <a:srgbClr val="00204B"/>
                </a:solidFill>
                <a:latin typeface="Codec Pro"/>
                <a:ea typeface="Codec Pro"/>
                <a:cs typeface="Codec Pro"/>
                <a:sym typeface="Codec Pro"/>
              </a:rPr>
              <a:t>Analysis</a:t>
            </a:r>
          </a:p>
          <a:p>
            <a:pPr algn="l" marL="544111" indent="-272056" lvl="1">
              <a:lnSpc>
                <a:spcPts val="3528"/>
              </a:lnSpc>
              <a:buFont typeface="Arial"/>
              <a:buChar char="•"/>
            </a:pPr>
            <a:r>
              <a:rPr lang="en-US" sz="2520">
                <a:solidFill>
                  <a:srgbClr val="00204B"/>
                </a:solidFill>
                <a:latin typeface="Codec Pro"/>
                <a:ea typeface="Codec Pro"/>
                <a:cs typeface="Codec Pro"/>
                <a:sym typeface="Codec Pro"/>
              </a:rPr>
              <a:t>Original data left, augmented right</a:t>
            </a:r>
          </a:p>
          <a:p>
            <a:pPr algn="l" marL="544111" indent="-272056" lvl="1">
              <a:lnSpc>
                <a:spcPts val="3528"/>
              </a:lnSpc>
              <a:buFont typeface="Arial"/>
              <a:buChar char="•"/>
            </a:pPr>
            <a:r>
              <a:rPr lang="en-US" sz="2520">
                <a:solidFill>
                  <a:srgbClr val="00204B"/>
                </a:solidFill>
                <a:latin typeface="Codec Pro"/>
                <a:ea typeface="Codec Pro"/>
                <a:cs typeface="Codec Pro"/>
                <a:sym typeface="Codec Pro"/>
              </a:rPr>
              <a:t>Colors indicate areas where model is focusing its attention on for classification </a:t>
            </a:r>
          </a:p>
          <a:p>
            <a:pPr algn="l" marL="544111" indent="-272056" lvl="1">
              <a:lnSpc>
                <a:spcPts val="3528"/>
              </a:lnSpc>
              <a:buFont typeface="Arial"/>
              <a:buChar char="•"/>
            </a:pPr>
            <a:r>
              <a:rPr lang="en-US" sz="2520">
                <a:solidFill>
                  <a:srgbClr val="00204B"/>
                </a:solidFill>
                <a:latin typeface="Codec Pro"/>
                <a:ea typeface="Codec Pro"/>
                <a:cs typeface="Codec Pro"/>
                <a:sym typeface="Codec Pro"/>
              </a:rPr>
              <a:t>Red /yellow show high importance (indicating presence of disease) </a:t>
            </a:r>
          </a:p>
          <a:p>
            <a:pPr algn="l" marL="544111" indent="-272056" lvl="1">
              <a:lnSpc>
                <a:spcPts val="3528"/>
              </a:lnSpc>
              <a:buFont typeface="Arial"/>
              <a:buChar char="•"/>
            </a:pPr>
            <a:r>
              <a:rPr lang="en-US" sz="2520">
                <a:solidFill>
                  <a:srgbClr val="00204B"/>
                </a:solidFill>
                <a:latin typeface="Codec Pro"/>
                <a:ea typeface="Codec Pro"/>
                <a:cs typeface="Codec Pro"/>
                <a:sym typeface="Codec Pro"/>
              </a:rPr>
              <a:t>Blue is lower importance</a:t>
            </a:r>
          </a:p>
          <a:p>
            <a:pPr algn="l" marL="544111" indent="-272056" lvl="1">
              <a:lnSpc>
                <a:spcPts val="3528"/>
              </a:lnSpc>
              <a:buFont typeface="Arial"/>
              <a:buChar char="•"/>
            </a:pPr>
            <a:r>
              <a:rPr lang="en-US" sz="2520">
                <a:solidFill>
                  <a:srgbClr val="00204B"/>
                </a:solidFill>
                <a:latin typeface="Codec Pro"/>
                <a:ea typeface="Codec Pro"/>
                <a:cs typeface="Codec Pro"/>
                <a:sym typeface="Codec Pro"/>
              </a:rPr>
              <a:t>Model 2 has more detailed and specific highlighted regions of the MRI scan</a:t>
            </a:r>
          </a:p>
          <a:p>
            <a:pPr algn="l" marL="544111" indent="-272056" lvl="1">
              <a:lnSpc>
                <a:spcPts val="3528"/>
              </a:lnSpc>
              <a:buFont typeface="Arial"/>
              <a:buChar char="•"/>
            </a:pPr>
            <a:r>
              <a:rPr lang="en-US" sz="2520">
                <a:solidFill>
                  <a:srgbClr val="00204B"/>
                </a:solidFill>
                <a:latin typeface="Codec Pro"/>
                <a:ea typeface="Codec Pro"/>
                <a:cs typeface="Codec Pro"/>
                <a:sym typeface="Codec Pro"/>
              </a:rPr>
              <a:t>Aligns with scientifically known regions that are affected (not expert in anatomy)</a:t>
            </a:r>
          </a:p>
          <a:p>
            <a:pPr algn="l" marL="1088223" indent="-362741" lvl="2">
              <a:lnSpc>
                <a:spcPts val="3528"/>
              </a:lnSpc>
              <a:buFont typeface="Arial"/>
              <a:buChar char="⚬"/>
            </a:pPr>
            <a:r>
              <a:rPr lang="en-US" sz="2520">
                <a:solidFill>
                  <a:srgbClr val="00204B"/>
                </a:solidFill>
                <a:latin typeface="Codec Pro"/>
                <a:ea typeface="Codec Pro"/>
                <a:cs typeface="Codec Pro"/>
                <a:sym typeface="Codec Pro"/>
              </a:rPr>
              <a:t>Alzheimer's- 3rd image (right side)</a:t>
            </a:r>
          </a:p>
          <a:p>
            <a:pPr algn="l" marL="1632334" indent="-408083" lvl="3">
              <a:lnSpc>
                <a:spcPts val="3528"/>
              </a:lnSpc>
              <a:buFont typeface="Arial"/>
              <a:buChar char="￭"/>
            </a:pPr>
            <a:r>
              <a:rPr lang="en-US" sz="2520">
                <a:solidFill>
                  <a:srgbClr val="00204B"/>
                </a:solidFill>
                <a:latin typeface="Codec Pro"/>
                <a:ea typeface="Codec Pro"/>
                <a:cs typeface="Codec Pro"/>
                <a:sym typeface="Codec Pro"/>
              </a:rPr>
              <a:t>Hippocampus</a:t>
            </a:r>
          </a:p>
          <a:p>
            <a:pPr algn="l" marL="1088223" indent="-362741" lvl="2">
              <a:lnSpc>
                <a:spcPts val="3528"/>
              </a:lnSpc>
              <a:buFont typeface="Arial"/>
              <a:buChar char="⚬"/>
            </a:pPr>
            <a:r>
              <a:rPr lang="en-US" sz="2520">
                <a:solidFill>
                  <a:srgbClr val="00204B"/>
                </a:solidFill>
                <a:latin typeface="Codec Pro"/>
                <a:ea typeface="Codec Pro"/>
                <a:cs typeface="Codec Pro"/>
                <a:sym typeface="Codec Pro"/>
              </a:rPr>
              <a:t>Parkinson’s</a:t>
            </a:r>
          </a:p>
          <a:p>
            <a:pPr algn="l" marL="1632334" indent="-408083" lvl="3">
              <a:lnSpc>
                <a:spcPts val="3528"/>
              </a:lnSpc>
              <a:buFont typeface="Arial"/>
              <a:buChar char="￭"/>
            </a:pPr>
            <a:r>
              <a:rPr lang="en-US" sz="2520">
                <a:solidFill>
                  <a:srgbClr val="00204B"/>
                </a:solidFill>
                <a:latin typeface="Codec Pro"/>
                <a:ea typeface="Codec Pro"/>
                <a:cs typeface="Codec Pro"/>
                <a:sym typeface="Codec Pro"/>
              </a:rPr>
              <a:t>Substantia nigra </a:t>
            </a:r>
          </a:p>
          <a:p>
            <a:pPr algn="l">
              <a:lnSpc>
                <a:spcPts val="2475"/>
              </a:lnSpc>
              <a:spcBef>
                <a:spcPct val="0"/>
              </a:spcBef>
            </a:pPr>
          </a:p>
        </p:txBody>
      </p:sp>
      <p:sp>
        <p:nvSpPr>
          <p:cNvPr name="Freeform 5" id="5"/>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291622" y="852317"/>
            <a:ext cx="15636708" cy="905764"/>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Grad-CAM - Results </a:t>
            </a:r>
          </a:p>
        </p:txBody>
      </p:sp>
      <p:sp>
        <p:nvSpPr>
          <p:cNvPr name="Freeform 7" id="7"/>
          <p:cNvSpPr/>
          <p:nvPr/>
        </p:nvSpPr>
        <p:spPr>
          <a:xfrm flipH="true" flipV="false" rot="5739132">
            <a:off x="-4511786" y="65906"/>
            <a:ext cx="7801629" cy="7801629"/>
          </a:xfrm>
          <a:custGeom>
            <a:avLst/>
            <a:gdLst/>
            <a:ahLst/>
            <a:cxnLst/>
            <a:rect r="r" b="b" t="t" l="l"/>
            <a:pathLst>
              <a:path h="7801629" w="7801629">
                <a:moveTo>
                  <a:pt x="7801630" y="0"/>
                </a:moveTo>
                <a:lnTo>
                  <a:pt x="0" y="0"/>
                </a:lnTo>
                <a:lnTo>
                  <a:pt x="0" y="7801629"/>
                </a:lnTo>
                <a:lnTo>
                  <a:pt x="7801630" y="7801629"/>
                </a:lnTo>
                <a:lnTo>
                  <a:pt x="7801630" y="0"/>
                </a:lnTo>
                <a:close/>
              </a:path>
            </a:pathLst>
          </a:custGeom>
          <a:blipFill>
            <a:blip r:embed="rId9">
              <a:alphaModFix amt="26000"/>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720736" y="2671239"/>
            <a:ext cx="2736370" cy="7548608"/>
          </a:xfrm>
          <a:custGeom>
            <a:avLst/>
            <a:gdLst/>
            <a:ahLst/>
            <a:cxnLst/>
            <a:rect r="r" b="b" t="t" l="l"/>
            <a:pathLst>
              <a:path h="7548608" w="2736370">
                <a:moveTo>
                  <a:pt x="0" y="0"/>
                </a:moveTo>
                <a:lnTo>
                  <a:pt x="2736371" y="0"/>
                </a:lnTo>
                <a:lnTo>
                  <a:pt x="2736371" y="7548608"/>
                </a:lnTo>
                <a:lnTo>
                  <a:pt x="0" y="7548608"/>
                </a:lnTo>
                <a:lnTo>
                  <a:pt x="0" y="0"/>
                </a:lnTo>
                <a:close/>
              </a:path>
            </a:pathLst>
          </a:custGeom>
          <a:blipFill>
            <a:blip r:embed="rId11"/>
            <a:stretch>
              <a:fillRect l="0" t="0" r="0" b="0"/>
            </a:stretch>
          </a:blipFill>
        </p:spPr>
      </p:sp>
      <p:sp>
        <p:nvSpPr>
          <p:cNvPr name="Freeform 9" id="9"/>
          <p:cNvSpPr/>
          <p:nvPr/>
        </p:nvSpPr>
        <p:spPr>
          <a:xfrm flipH="false" flipV="false" rot="0">
            <a:off x="4673213" y="2608921"/>
            <a:ext cx="2749447" cy="7610926"/>
          </a:xfrm>
          <a:custGeom>
            <a:avLst/>
            <a:gdLst/>
            <a:ahLst/>
            <a:cxnLst/>
            <a:rect r="r" b="b" t="t" l="l"/>
            <a:pathLst>
              <a:path h="7610926" w="2749447">
                <a:moveTo>
                  <a:pt x="0" y="0"/>
                </a:moveTo>
                <a:lnTo>
                  <a:pt x="2749447" y="0"/>
                </a:lnTo>
                <a:lnTo>
                  <a:pt x="2749447" y="7610926"/>
                </a:lnTo>
                <a:lnTo>
                  <a:pt x="0" y="7610926"/>
                </a:lnTo>
                <a:lnTo>
                  <a:pt x="0" y="0"/>
                </a:lnTo>
                <a:close/>
              </a:path>
            </a:pathLst>
          </a:custGeom>
          <a:blipFill>
            <a:blip r:embed="rId12"/>
            <a:stretch>
              <a:fillRect l="0" t="0" r="0" b="0"/>
            </a:stretch>
          </a:blipFill>
        </p:spPr>
      </p:sp>
      <p:sp>
        <p:nvSpPr>
          <p:cNvPr name="Freeform 10" id="10"/>
          <p:cNvSpPr/>
          <p:nvPr/>
        </p:nvSpPr>
        <p:spPr>
          <a:xfrm flipH="false" flipV="false" rot="0">
            <a:off x="8441835" y="2608921"/>
            <a:ext cx="2753477" cy="7543773"/>
          </a:xfrm>
          <a:custGeom>
            <a:avLst/>
            <a:gdLst/>
            <a:ahLst/>
            <a:cxnLst/>
            <a:rect r="r" b="b" t="t" l="l"/>
            <a:pathLst>
              <a:path h="7543773" w="2753477">
                <a:moveTo>
                  <a:pt x="0" y="0"/>
                </a:moveTo>
                <a:lnTo>
                  <a:pt x="2753477" y="0"/>
                </a:lnTo>
                <a:lnTo>
                  <a:pt x="2753477" y="7543773"/>
                </a:lnTo>
                <a:lnTo>
                  <a:pt x="0" y="7543773"/>
                </a:lnTo>
                <a:lnTo>
                  <a:pt x="0" y="0"/>
                </a:lnTo>
                <a:close/>
              </a:path>
            </a:pathLst>
          </a:custGeom>
          <a:blipFill>
            <a:blip r:embed="rId13"/>
            <a:stretch>
              <a:fillRect l="0" t="0" r="0" b="0"/>
            </a:stretch>
          </a:blipFill>
        </p:spPr>
      </p:sp>
      <p:sp>
        <p:nvSpPr>
          <p:cNvPr name="TextBox 11" id="11"/>
          <p:cNvSpPr txBox="true"/>
          <p:nvPr/>
        </p:nvSpPr>
        <p:spPr>
          <a:xfrm rot="0">
            <a:off x="377003" y="2039490"/>
            <a:ext cx="3466505" cy="455519"/>
          </a:xfrm>
          <a:prstGeom prst="rect">
            <a:avLst/>
          </a:prstGeom>
        </p:spPr>
        <p:txBody>
          <a:bodyPr anchor="t" rtlCol="false" tIns="0" lIns="0" bIns="0" rIns="0">
            <a:spAutoFit/>
          </a:bodyPr>
          <a:lstStyle/>
          <a:p>
            <a:pPr algn="ctr">
              <a:lnSpc>
                <a:spcPts val="3767"/>
              </a:lnSpc>
              <a:spcBef>
                <a:spcPct val="0"/>
              </a:spcBef>
            </a:pPr>
            <a:r>
              <a:rPr lang="en-US" sz="2691">
                <a:solidFill>
                  <a:srgbClr val="02233D"/>
                </a:solidFill>
                <a:latin typeface="League Spartan"/>
                <a:ea typeface="League Spartan"/>
                <a:cs typeface="League Spartan"/>
                <a:sym typeface="League Spartan"/>
              </a:rPr>
              <a:t>Class 0:Alzheimer’s</a:t>
            </a:r>
          </a:p>
        </p:txBody>
      </p:sp>
      <p:sp>
        <p:nvSpPr>
          <p:cNvPr name="TextBox 12" id="12"/>
          <p:cNvSpPr txBox="true"/>
          <p:nvPr/>
        </p:nvSpPr>
        <p:spPr>
          <a:xfrm rot="0">
            <a:off x="4672183" y="2053977"/>
            <a:ext cx="2730103" cy="481554"/>
          </a:xfrm>
          <a:prstGeom prst="rect">
            <a:avLst/>
          </a:prstGeom>
        </p:spPr>
        <p:txBody>
          <a:bodyPr anchor="t" rtlCol="false" tIns="0" lIns="0" bIns="0" rIns="0">
            <a:spAutoFit/>
          </a:bodyPr>
          <a:lstStyle/>
          <a:p>
            <a:pPr algn="ctr">
              <a:lnSpc>
                <a:spcPts val="3907"/>
              </a:lnSpc>
              <a:spcBef>
                <a:spcPct val="0"/>
              </a:spcBef>
            </a:pPr>
            <a:r>
              <a:rPr lang="en-US" sz="2791">
                <a:solidFill>
                  <a:srgbClr val="02233D"/>
                </a:solidFill>
                <a:latin typeface="League Spartan"/>
                <a:ea typeface="League Spartan"/>
                <a:cs typeface="League Spartan"/>
                <a:sym typeface="League Spartan"/>
              </a:rPr>
              <a:t>Class 1:Normal</a:t>
            </a:r>
          </a:p>
        </p:txBody>
      </p:sp>
      <p:sp>
        <p:nvSpPr>
          <p:cNvPr name="TextBox 13" id="13"/>
          <p:cNvSpPr txBox="true"/>
          <p:nvPr/>
        </p:nvSpPr>
        <p:spPr>
          <a:xfrm rot="0">
            <a:off x="8235652" y="2053977"/>
            <a:ext cx="3595985" cy="481554"/>
          </a:xfrm>
          <a:prstGeom prst="rect">
            <a:avLst/>
          </a:prstGeom>
        </p:spPr>
        <p:txBody>
          <a:bodyPr anchor="t" rtlCol="false" tIns="0" lIns="0" bIns="0" rIns="0">
            <a:spAutoFit/>
          </a:bodyPr>
          <a:lstStyle/>
          <a:p>
            <a:pPr algn="ctr">
              <a:lnSpc>
                <a:spcPts val="3907"/>
              </a:lnSpc>
              <a:spcBef>
                <a:spcPct val="0"/>
              </a:spcBef>
            </a:pPr>
            <a:r>
              <a:rPr lang="en-US" sz="2791">
                <a:solidFill>
                  <a:srgbClr val="02233D"/>
                </a:solidFill>
                <a:latin typeface="League Spartan"/>
                <a:ea typeface="League Spartan"/>
                <a:cs typeface="League Spartan"/>
                <a:sym typeface="League Spartan"/>
              </a:rPr>
              <a:t>Class 2:Parkinson’s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794478" y="-90851"/>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281154" y="-299319"/>
            <a:ext cx="6775868" cy="4114800"/>
          </a:xfrm>
          <a:custGeom>
            <a:avLst/>
            <a:gdLst/>
            <a:ahLst/>
            <a:cxnLst/>
            <a:rect r="r" b="b" t="t" l="l"/>
            <a:pathLst>
              <a:path h="4114800" w="6775868">
                <a:moveTo>
                  <a:pt x="0" y="0"/>
                </a:moveTo>
                <a:lnTo>
                  <a:pt x="6775869" y="0"/>
                </a:lnTo>
                <a:lnTo>
                  <a:pt x="6775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422270" y="93559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1344548" y="538295"/>
            <a:ext cx="12077721" cy="1753489"/>
          </a:xfrm>
          <a:prstGeom prst="rect">
            <a:avLst/>
          </a:prstGeom>
        </p:spPr>
        <p:txBody>
          <a:bodyPr anchor="t" rtlCol="false" tIns="0" lIns="0" bIns="0" rIns="0">
            <a:spAutoFit/>
          </a:bodyPr>
          <a:lstStyle/>
          <a:p>
            <a:pPr algn="l">
              <a:lnSpc>
                <a:spcPts val="6712"/>
              </a:lnSpc>
            </a:pPr>
            <a:r>
              <a:rPr lang="en-US" sz="6849">
                <a:solidFill>
                  <a:srgbClr val="02233D"/>
                </a:solidFill>
                <a:latin typeface="League Spartan"/>
                <a:ea typeface="League Spartan"/>
                <a:cs typeface="League Spartan"/>
                <a:sym typeface="League Spartan"/>
              </a:rPr>
              <a:t>ResNet and Grad-CAM Results </a:t>
            </a:r>
          </a:p>
        </p:txBody>
      </p:sp>
      <p:sp>
        <p:nvSpPr>
          <p:cNvPr name="Freeform 6" id="6"/>
          <p:cNvSpPr/>
          <p:nvPr/>
        </p:nvSpPr>
        <p:spPr>
          <a:xfrm flipH="false" flipV="false" rot="0">
            <a:off x="15152796" y="1966549"/>
            <a:ext cx="2561134" cy="7365636"/>
          </a:xfrm>
          <a:custGeom>
            <a:avLst/>
            <a:gdLst/>
            <a:ahLst/>
            <a:cxnLst/>
            <a:rect r="r" b="b" t="t" l="l"/>
            <a:pathLst>
              <a:path h="7365636" w="2561134">
                <a:moveTo>
                  <a:pt x="0" y="0"/>
                </a:moveTo>
                <a:lnTo>
                  <a:pt x="2561134" y="0"/>
                </a:lnTo>
                <a:lnTo>
                  <a:pt x="2561134" y="7365636"/>
                </a:lnTo>
                <a:lnTo>
                  <a:pt x="0" y="7365636"/>
                </a:lnTo>
                <a:lnTo>
                  <a:pt x="0" y="0"/>
                </a:lnTo>
                <a:close/>
              </a:path>
            </a:pathLst>
          </a:custGeom>
          <a:blipFill>
            <a:blip r:embed="rId9"/>
            <a:stretch>
              <a:fillRect l="0" t="0" r="-1418" b="-20563"/>
            </a:stretch>
          </a:blipFill>
        </p:spPr>
      </p:sp>
      <p:sp>
        <p:nvSpPr>
          <p:cNvPr name="Freeform 7" id="7"/>
          <p:cNvSpPr/>
          <p:nvPr/>
        </p:nvSpPr>
        <p:spPr>
          <a:xfrm flipH="false" flipV="false" rot="0">
            <a:off x="11851646" y="1972119"/>
            <a:ext cx="2582065" cy="7389425"/>
          </a:xfrm>
          <a:custGeom>
            <a:avLst/>
            <a:gdLst/>
            <a:ahLst/>
            <a:cxnLst/>
            <a:rect r="r" b="b" t="t" l="l"/>
            <a:pathLst>
              <a:path h="7389425" w="2582065">
                <a:moveTo>
                  <a:pt x="0" y="0"/>
                </a:moveTo>
                <a:lnTo>
                  <a:pt x="2582065" y="0"/>
                </a:lnTo>
                <a:lnTo>
                  <a:pt x="2582065" y="7389426"/>
                </a:lnTo>
                <a:lnTo>
                  <a:pt x="0" y="7389426"/>
                </a:lnTo>
                <a:lnTo>
                  <a:pt x="0" y="0"/>
                </a:lnTo>
                <a:close/>
              </a:path>
            </a:pathLst>
          </a:custGeom>
          <a:blipFill>
            <a:blip r:embed="rId10"/>
            <a:stretch>
              <a:fillRect l="0" t="0" r="0" b="-23146"/>
            </a:stretch>
          </a:blipFill>
        </p:spPr>
      </p:sp>
      <p:sp>
        <p:nvSpPr>
          <p:cNvPr name="TextBox 8" id="8"/>
          <p:cNvSpPr txBox="true"/>
          <p:nvPr/>
        </p:nvSpPr>
        <p:spPr>
          <a:xfrm rot="0">
            <a:off x="2042303" y="3474165"/>
            <a:ext cx="8140894" cy="2604791"/>
          </a:xfrm>
          <a:prstGeom prst="rect">
            <a:avLst/>
          </a:prstGeom>
        </p:spPr>
        <p:txBody>
          <a:bodyPr anchor="t" rtlCol="false" tIns="0" lIns="0" bIns="0" rIns="0">
            <a:spAutoFit/>
          </a:bodyPr>
          <a:lstStyle/>
          <a:p>
            <a:pPr algn="l" marL="528773" indent="-264386" lvl="1">
              <a:lnSpc>
                <a:spcPts val="3428"/>
              </a:lnSpc>
              <a:buFont typeface="Arial"/>
              <a:buChar char="•"/>
            </a:pPr>
            <a:r>
              <a:rPr lang="en-US" sz="2449">
                <a:solidFill>
                  <a:srgbClr val="00204B"/>
                </a:solidFill>
                <a:latin typeface="Codec Pro"/>
                <a:ea typeface="Codec Pro"/>
                <a:cs typeface="Codec Pro"/>
                <a:sym typeface="Codec Pro"/>
              </a:rPr>
              <a:t>Added Grad-CAM to our ResNet results </a:t>
            </a:r>
          </a:p>
          <a:p>
            <a:pPr algn="l" marL="528773" indent="-264386" lvl="1">
              <a:lnSpc>
                <a:spcPts val="3428"/>
              </a:lnSpc>
              <a:buFont typeface="Arial"/>
              <a:buChar char="•"/>
            </a:pPr>
            <a:r>
              <a:rPr lang="en-US" sz="2449">
                <a:solidFill>
                  <a:srgbClr val="00204B"/>
                </a:solidFill>
                <a:latin typeface="Codec Pro"/>
                <a:ea typeface="Codec Pro"/>
                <a:cs typeface="Codec Pro"/>
                <a:sym typeface="Codec Pro"/>
              </a:rPr>
              <a:t>Heatmap displays an overgeneralization across the MRI images</a:t>
            </a:r>
          </a:p>
          <a:p>
            <a:pPr algn="l" marL="1057545" indent="-352515" lvl="2">
              <a:lnSpc>
                <a:spcPts val="3428"/>
              </a:lnSpc>
              <a:buFont typeface="Arial"/>
              <a:buChar char="⚬"/>
            </a:pPr>
            <a:r>
              <a:rPr lang="en-US" sz="2449">
                <a:solidFill>
                  <a:srgbClr val="00204B"/>
                </a:solidFill>
                <a:latin typeface="Codec Pro"/>
                <a:ea typeface="Codec Pro"/>
                <a:cs typeface="Codec Pro"/>
                <a:sym typeface="Codec Pro"/>
              </a:rPr>
              <a:t>Relying more on broader patterns versus specific regions</a:t>
            </a:r>
          </a:p>
          <a:p>
            <a:pPr algn="l" marL="1057545" indent="-352515" lvl="2">
              <a:lnSpc>
                <a:spcPts val="3428"/>
              </a:lnSpc>
              <a:spcBef>
                <a:spcPct val="0"/>
              </a:spcBef>
              <a:buFont typeface="Arial"/>
              <a:buChar char="⚬"/>
            </a:pPr>
            <a:r>
              <a:rPr lang="en-US" sz="2449">
                <a:solidFill>
                  <a:srgbClr val="00204B"/>
                </a:solidFill>
                <a:latin typeface="Codec Pro"/>
                <a:ea typeface="Codec Pro"/>
                <a:cs typeface="Codec Pro"/>
                <a:sym typeface="Codec Pro"/>
              </a:rPr>
              <a:t>Misses out on the finer details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416515" y="8832335"/>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1209675"/>
            <a:ext cx="12547951" cy="1122872"/>
          </a:xfrm>
          <a:prstGeom prst="rect">
            <a:avLst/>
          </a:prstGeom>
        </p:spPr>
        <p:txBody>
          <a:bodyPr anchor="t" rtlCol="false" tIns="0" lIns="0" bIns="0" rIns="0">
            <a:spAutoFit/>
          </a:bodyPr>
          <a:lstStyle/>
          <a:p>
            <a:pPr algn="l">
              <a:lnSpc>
                <a:spcPts val="8418"/>
              </a:lnSpc>
            </a:pPr>
            <a:r>
              <a:rPr lang="en-US" sz="8590">
                <a:solidFill>
                  <a:srgbClr val="FFFFFF"/>
                </a:solidFill>
                <a:latin typeface="League Spartan"/>
                <a:ea typeface="League Spartan"/>
                <a:cs typeface="League Spartan"/>
                <a:sym typeface="League Spartan"/>
              </a:rPr>
              <a:t>Takeaways</a:t>
            </a:r>
          </a:p>
        </p:txBody>
      </p:sp>
      <p:sp>
        <p:nvSpPr>
          <p:cNvPr name="TextBox 5" id="5"/>
          <p:cNvSpPr txBox="true"/>
          <p:nvPr/>
        </p:nvSpPr>
        <p:spPr>
          <a:xfrm rot="0">
            <a:off x="831718" y="2766670"/>
            <a:ext cx="17098779" cy="4639360"/>
          </a:xfrm>
          <a:prstGeom prst="rect">
            <a:avLst/>
          </a:prstGeom>
        </p:spPr>
        <p:txBody>
          <a:bodyPr anchor="t" rtlCol="false" tIns="0" lIns="0" bIns="0" rIns="0">
            <a:spAutoFit/>
          </a:bodyPr>
          <a:lstStyle/>
          <a:p>
            <a:pPr algn="l" marL="679659" indent="-339830" lvl="1">
              <a:lnSpc>
                <a:spcPts val="4407"/>
              </a:lnSpc>
              <a:buFont typeface="Arial"/>
              <a:buChar char="•"/>
            </a:pPr>
            <a:r>
              <a:rPr lang="en-US" sz="3148">
                <a:solidFill>
                  <a:srgbClr val="FFFFFF"/>
                </a:solidFill>
                <a:latin typeface="Codec Pro"/>
                <a:ea typeface="Codec Pro"/>
                <a:cs typeface="Codec Pro"/>
                <a:sym typeface="Codec Pro"/>
              </a:rPr>
              <a:t>Many limitations with medical data and computational power</a:t>
            </a:r>
          </a:p>
          <a:p>
            <a:pPr algn="l" marL="679659" indent="-339830" lvl="1">
              <a:lnSpc>
                <a:spcPts val="4407"/>
              </a:lnSpc>
              <a:buFont typeface="Arial"/>
              <a:buChar char="•"/>
            </a:pPr>
            <a:r>
              <a:rPr lang="en-US" sz="3148">
                <a:solidFill>
                  <a:srgbClr val="FFFFFF"/>
                </a:solidFill>
                <a:latin typeface="Codec Pro"/>
                <a:ea typeface="Codec Pro"/>
                <a:cs typeface="Codec Pro"/>
                <a:sym typeface="Codec Pro"/>
              </a:rPr>
              <a:t>CNN with augmented data performed the best while Feed-Forward and ResNet performed worse with that data</a:t>
            </a:r>
          </a:p>
          <a:p>
            <a:pPr algn="l" marL="1359318" indent="-453106" lvl="2">
              <a:lnSpc>
                <a:spcPts val="4407"/>
              </a:lnSpc>
              <a:buFont typeface="Arial"/>
              <a:buChar char="⚬"/>
            </a:pPr>
            <a:r>
              <a:rPr lang="en-US" sz="3148">
                <a:solidFill>
                  <a:srgbClr val="FFFFFF"/>
                </a:solidFill>
                <a:latin typeface="Codec Pro"/>
                <a:ea typeface="Codec Pro"/>
                <a:cs typeface="Codec Pro"/>
                <a:sym typeface="Codec Pro"/>
              </a:rPr>
              <a:t>Custom CNN vs Baseline/Pre-trained</a:t>
            </a:r>
          </a:p>
          <a:p>
            <a:pPr algn="l" marL="679659" indent="-339830" lvl="1">
              <a:lnSpc>
                <a:spcPts val="4407"/>
              </a:lnSpc>
              <a:buFont typeface="Arial"/>
              <a:buChar char="•"/>
            </a:pPr>
            <a:r>
              <a:rPr lang="en-US" sz="3148">
                <a:solidFill>
                  <a:srgbClr val="FFFFFF"/>
                </a:solidFill>
                <a:latin typeface="Codec Pro"/>
                <a:ea typeface="Codec Pro"/>
                <a:cs typeface="Codec Pro"/>
                <a:sym typeface="Codec Pro"/>
              </a:rPr>
              <a:t>Grad Cam has a lot of potential to visualize locations in the brain that indicate disease</a:t>
            </a:r>
          </a:p>
          <a:p>
            <a:pPr algn="l" marL="1359318" indent="-453106" lvl="2">
              <a:lnSpc>
                <a:spcPts val="4407"/>
              </a:lnSpc>
              <a:buFont typeface="Arial"/>
              <a:buChar char="⚬"/>
            </a:pPr>
            <a:r>
              <a:rPr lang="en-US" sz="3148">
                <a:solidFill>
                  <a:srgbClr val="FFFFFF"/>
                </a:solidFill>
                <a:latin typeface="Codec Pro"/>
                <a:ea typeface="Codec Pro"/>
                <a:cs typeface="Codec Pro"/>
                <a:sym typeface="Codec Pro"/>
              </a:rPr>
              <a:t>But requires a lot of training</a:t>
            </a:r>
          </a:p>
          <a:p>
            <a:pPr algn="l">
              <a:lnSpc>
                <a:spcPts val="2867"/>
              </a:lnSpc>
            </a:pPr>
          </a:p>
          <a:p>
            <a:pPr algn="l">
              <a:lnSpc>
                <a:spcPts val="2867"/>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8422809" y="526335"/>
            <a:ext cx="11071703" cy="11071703"/>
          </a:xfrm>
          <a:custGeom>
            <a:avLst/>
            <a:gdLst/>
            <a:ahLst/>
            <a:cxnLst/>
            <a:rect r="r" b="b" t="t" l="l"/>
            <a:pathLst>
              <a:path h="11071703" w="11071703">
                <a:moveTo>
                  <a:pt x="0" y="0"/>
                </a:moveTo>
                <a:lnTo>
                  <a:pt x="11071703" y="0"/>
                </a:lnTo>
                <a:lnTo>
                  <a:pt x="11071703" y="11071703"/>
                </a:lnTo>
                <a:lnTo>
                  <a:pt x="0" y="11071703"/>
                </a:lnTo>
                <a:lnTo>
                  <a:pt x="0" y="0"/>
                </a:lnTo>
                <a:close/>
              </a:path>
            </a:pathLst>
          </a:custGeom>
          <a:blipFill>
            <a:blip r:embed="rId3">
              <a:alphaModFix amt="49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330474" y="7975953"/>
            <a:ext cx="1628186" cy="1637116"/>
          </a:xfrm>
          <a:custGeom>
            <a:avLst/>
            <a:gdLst/>
            <a:ahLst/>
            <a:cxnLst/>
            <a:rect r="r" b="b" t="t" l="l"/>
            <a:pathLst>
              <a:path h="1637116" w="1628186">
                <a:moveTo>
                  <a:pt x="0" y="0"/>
                </a:moveTo>
                <a:lnTo>
                  <a:pt x="1628186" y="0"/>
                </a:lnTo>
                <a:lnTo>
                  <a:pt x="1628186" y="1637115"/>
                </a:lnTo>
                <a:lnTo>
                  <a:pt x="0" y="16371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42663" y="97675"/>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416515" y="5213283"/>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028700" y="1681579"/>
            <a:ext cx="10329631" cy="2117202"/>
          </a:xfrm>
          <a:prstGeom prst="rect">
            <a:avLst/>
          </a:prstGeom>
        </p:spPr>
        <p:txBody>
          <a:bodyPr anchor="t" rtlCol="false" tIns="0" lIns="0" bIns="0" rIns="0">
            <a:spAutoFit/>
          </a:bodyPr>
          <a:lstStyle/>
          <a:p>
            <a:pPr algn="l">
              <a:lnSpc>
                <a:spcPts val="8104"/>
              </a:lnSpc>
            </a:pPr>
            <a:r>
              <a:rPr lang="en-US" sz="8269">
                <a:solidFill>
                  <a:srgbClr val="02233D"/>
                </a:solidFill>
                <a:latin typeface="League Spartan"/>
                <a:ea typeface="League Spartan"/>
                <a:cs typeface="League Spartan"/>
                <a:sym typeface="League Spartan"/>
              </a:rPr>
              <a:t>Future Extensions</a:t>
            </a:r>
          </a:p>
          <a:p>
            <a:pPr algn="l">
              <a:lnSpc>
                <a:spcPts val="8104"/>
              </a:lnSpc>
            </a:pPr>
          </a:p>
        </p:txBody>
      </p:sp>
      <p:sp>
        <p:nvSpPr>
          <p:cNvPr name="TextBox 7" id="7"/>
          <p:cNvSpPr txBox="true"/>
          <p:nvPr/>
        </p:nvSpPr>
        <p:spPr>
          <a:xfrm rot="0">
            <a:off x="676596" y="3044292"/>
            <a:ext cx="16245066" cy="5594431"/>
          </a:xfrm>
          <a:prstGeom prst="rect">
            <a:avLst/>
          </a:prstGeom>
        </p:spPr>
        <p:txBody>
          <a:bodyPr anchor="t" rtlCol="false" tIns="0" lIns="0" bIns="0" rIns="0">
            <a:spAutoFit/>
          </a:bodyPr>
          <a:lstStyle/>
          <a:p>
            <a:pPr algn="l" marL="620027" indent="-310014" lvl="1">
              <a:lnSpc>
                <a:spcPts val="4020"/>
              </a:lnSpc>
              <a:buFont typeface="Arial"/>
              <a:buChar char="•"/>
            </a:pPr>
            <a:r>
              <a:rPr lang="en-US" sz="2871">
                <a:solidFill>
                  <a:srgbClr val="00204B"/>
                </a:solidFill>
                <a:latin typeface="Codec Pro"/>
                <a:ea typeface="Codec Pro"/>
                <a:cs typeface="Codec Pro"/>
                <a:sym typeface="Codec Pro"/>
              </a:rPr>
              <a:t>The scope of our study could be expanded</a:t>
            </a:r>
          </a:p>
          <a:p>
            <a:pPr algn="l" marL="1240054" indent="-413351" lvl="2">
              <a:lnSpc>
                <a:spcPts val="4020"/>
              </a:lnSpc>
              <a:buFont typeface="Arial"/>
              <a:buChar char="⚬"/>
            </a:pPr>
            <a:r>
              <a:rPr lang="en-US" b="true" sz="2871">
                <a:solidFill>
                  <a:srgbClr val="00204B"/>
                </a:solidFill>
                <a:latin typeface="Codec Pro Bold"/>
                <a:ea typeface="Codec Pro Bold"/>
                <a:cs typeface="Codec Pro Bold"/>
                <a:sym typeface="Codec Pro Bold"/>
              </a:rPr>
              <a:t>We can potentially do early disease prediction </a:t>
            </a:r>
            <a:r>
              <a:rPr lang="en-US" sz="2871">
                <a:solidFill>
                  <a:srgbClr val="00204B"/>
                </a:solidFill>
                <a:latin typeface="Codec Pro"/>
                <a:ea typeface="Codec Pro"/>
                <a:cs typeface="Codec Pro"/>
                <a:sym typeface="Codec Pro"/>
              </a:rPr>
              <a:t>by training models</a:t>
            </a:r>
            <a:r>
              <a:rPr lang="en-US" b="true" sz="2871">
                <a:solidFill>
                  <a:srgbClr val="00204B"/>
                </a:solidFill>
                <a:latin typeface="Codec Pro Bold"/>
                <a:ea typeface="Codec Pro Bold"/>
                <a:cs typeface="Codec Pro Bold"/>
                <a:sym typeface="Codec Pro Bold"/>
              </a:rPr>
              <a:t> </a:t>
            </a:r>
            <a:r>
              <a:rPr lang="en-US" sz="2871">
                <a:solidFill>
                  <a:srgbClr val="00204B"/>
                </a:solidFill>
                <a:latin typeface="Codec Pro"/>
                <a:ea typeface="Codec Pro"/>
                <a:cs typeface="Codec Pro"/>
                <a:sym typeface="Codec Pro"/>
              </a:rPr>
              <a:t>to detect pre-disease indicators and progression patterns in MRI scans</a:t>
            </a:r>
          </a:p>
          <a:p>
            <a:pPr algn="l" marL="1860081" indent="-465020" lvl="3">
              <a:lnSpc>
                <a:spcPts val="4020"/>
              </a:lnSpc>
              <a:buFont typeface="Arial"/>
              <a:buChar char="￭"/>
            </a:pPr>
            <a:r>
              <a:rPr lang="en-US" sz="2871">
                <a:solidFill>
                  <a:srgbClr val="00204B"/>
                </a:solidFill>
                <a:latin typeface="Codec Pro"/>
                <a:ea typeface="Codec Pro"/>
                <a:cs typeface="Codec Pro"/>
                <a:sym typeface="Codec Pro"/>
              </a:rPr>
              <a:t>Provided we are able to obtain datasets with information on patients as they were in the process of developing neurodegenerative diseases</a:t>
            </a:r>
          </a:p>
          <a:p>
            <a:pPr algn="l" marL="1240054" indent="-413351" lvl="2">
              <a:lnSpc>
                <a:spcPts val="4020"/>
              </a:lnSpc>
              <a:buFont typeface="Arial"/>
              <a:buChar char="⚬"/>
            </a:pPr>
            <a:r>
              <a:rPr lang="en-US" sz="2871">
                <a:solidFill>
                  <a:srgbClr val="00204B"/>
                </a:solidFill>
                <a:latin typeface="Codec Pro"/>
                <a:ea typeface="Codec Pro"/>
                <a:cs typeface="Codec Pro"/>
                <a:sym typeface="Codec Pro"/>
              </a:rPr>
              <a:t>We could also</a:t>
            </a:r>
            <a:r>
              <a:rPr lang="en-US" b="true" sz="2871">
                <a:solidFill>
                  <a:srgbClr val="00204B"/>
                </a:solidFill>
                <a:latin typeface="Codec Pro Bold"/>
                <a:ea typeface="Codec Pro Bold"/>
                <a:cs typeface="Codec Pro Bold"/>
                <a:sym typeface="Codec Pro Bold"/>
              </a:rPr>
              <a:t> incorporate multi modal learning</a:t>
            </a:r>
          </a:p>
          <a:p>
            <a:pPr algn="l" marL="1860081" indent="-465020" lvl="3">
              <a:lnSpc>
                <a:spcPts val="4020"/>
              </a:lnSpc>
              <a:buFont typeface="Arial"/>
              <a:buChar char="￭"/>
            </a:pPr>
            <a:r>
              <a:rPr lang="en-US" sz="2871">
                <a:solidFill>
                  <a:srgbClr val="00204B"/>
                </a:solidFill>
                <a:latin typeface="Codec Pro"/>
                <a:ea typeface="Codec Pro"/>
                <a:cs typeface="Codec Pro"/>
                <a:sym typeface="Codec Pro"/>
              </a:rPr>
              <a:t>By combining MRI scans with other medical data such as genetic markers and clinical history for better prediction beyond just looking at an MRI scans</a:t>
            </a:r>
          </a:p>
          <a:p>
            <a:pPr algn="l" marL="620027" indent="-310014" lvl="1">
              <a:lnSpc>
                <a:spcPts val="4020"/>
              </a:lnSpc>
              <a:buFont typeface="Arial"/>
              <a:buChar char="•"/>
            </a:pPr>
            <a:r>
              <a:rPr lang="en-US" b="true" sz="2871">
                <a:solidFill>
                  <a:srgbClr val="00204B"/>
                </a:solidFill>
                <a:latin typeface="Codec Pro Bold"/>
                <a:ea typeface="Codec Pro Bold"/>
                <a:cs typeface="Codec Pro Bold"/>
                <a:sym typeface="Codec Pro Bold"/>
              </a:rPr>
              <a:t>We could explore more advanced architectures</a:t>
            </a:r>
          </a:p>
          <a:p>
            <a:pPr algn="l" marL="1240054" indent="-413351" lvl="2">
              <a:lnSpc>
                <a:spcPts val="4020"/>
              </a:lnSpc>
              <a:buFont typeface="Arial"/>
              <a:buChar char="⚬"/>
            </a:pPr>
            <a:r>
              <a:rPr lang="en-US" sz="2871">
                <a:solidFill>
                  <a:srgbClr val="00204B"/>
                </a:solidFill>
                <a:latin typeface="Codec Pro"/>
                <a:ea typeface="Codec Pro"/>
                <a:cs typeface="Codec Pro"/>
                <a:sym typeface="Codec Pro"/>
              </a:rPr>
              <a:t>Vision Transformers</a:t>
            </a:r>
          </a:p>
          <a:p>
            <a:pPr algn="l" marL="1240054" indent="-413351" lvl="2">
              <a:lnSpc>
                <a:spcPts val="4020"/>
              </a:lnSpc>
              <a:spcBef>
                <a:spcPct val="0"/>
              </a:spcBef>
              <a:buFont typeface="Arial"/>
              <a:buChar char="⚬"/>
            </a:pPr>
            <a:r>
              <a:rPr lang="en-US" sz="2871">
                <a:solidFill>
                  <a:srgbClr val="00204B"/>
                </a:solidFill>
                <a:latin typeface="Codec Pro"/>
                <a:ea typeface="Codec Pro"/>
                <a:cs typeface="Codec Pro"/>
                <a:sym typeface="Codec Pro"/>
              </a:rPr>
              <a:t>Combine CNNs with RNNs or LSTM</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777B6">
                <a:alpha val="100000"/>
              </a:srgbClr>
            </a:gs>
            <a:gs pos="100000">
              <a:srgbClr val="050B3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739132">
            <a:off x="-1624707" y="-639849"/>
            <a:ext cx="7801629" cy="7801629"/>
          </a:xfrm>
          <a:custGeom>
            <a:avLst/>
            <a:gdLst/>
            <a:ahLst/>
            <a:cxnLst/>
            <a:rect r="r" b="b" t="t" l="l"/>
            <a:pathLst>
              <a:path h="7801629" w="7801629">
                <a:moveTo>
                  <a:pt x="7801630" y="0"/>
                </a:moveTo>
                <a:lnTo>
                  <a:pt x="0" y="0"/>
                </a:lnTo>
                <a:lnTo>
                  <a:pt x="0" y="7801630"/>
                </a:lnTo>
                <a:lnTo>
                  <a:pt x="7801630" y="7801630"/>
                </a:lnTo>
                <a:lnTo>
                  <a:pt x="780163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40525" y="3798001"/>
            <a:ext cx="16749400" cy="1491971"/>
          </a:xfrm>
          <a:prstGeom prst="rect">
            <a:avLst/>
          </a:prstGeom>
        </p:spPr>
        <p:txBody>
          <a:bodyPr anchor="t" rtlCol="false" tIns="0" lIns="0" bIns="0" rIns="0">
            <a:spAutoFit/>
          </a:bodyPr>
          <a:lstStyle/>
          <a:p>
            <a:pPr algn="ctr">
              <a:lnSpc>
                <a:spcPts val="11237"/>
              </a:lnSpc>
            </a:pPr>
            <a:r>
              <a:rPr lang="en-US" sz="11467">
                <a:solidFill>
                  <a:srgbClr val="FFFFFF"/>
                </a:solidFill>
                <a:latin typeface="League Spartan"/>
                <a:ea typeface="League Spartan"/>
                <a:cs typeface="League Spartan"/>
                <a:sym typeface="League Spartan"/>
              </a:rPr>
              <a:t>Thank you!</a:t>
            </a:r>
          </a:p>
        </p:txBody>
      </p:sp>
      <p:sp>
        <p:nvSpPr>
          <p:cNvPr name="Freeform 4" id="4"/>
          <p:cNvSpPr/>
          <p:nvPr/>
        </p:nvSpPr>
        <p:spPr>
          <a:xfrm flipH="false" flipV="false" rot="0">
            <a:off x="16416515" y="8832335"/>
            <a:ext cx="505147" cy="505147"/>
          </a:xfrm>
          <a:custGeom>
            <a:avLst/>
            <a:gdLst/>
            <a:ahLst/>
            <a:cxnLst/>
            <a:rect r="r" b="b" t="t" l="l"/>
            <a:pathLst>
              <a:path h="505147" w="505147">
                <a:moveTo>
                  <a:pt x="0" y="0"/>
                </a:moveTo>
                <a:lnTo>
                  <a:pt x="505147" y="0"/>
                </a:lnTo>
                <a:lnTo>
                  <a:pt x="505147" y="505147"/>
                </a:lnTo>
                <a:lnTo>
                  <a:pt x="0" y="505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566591">
            <a:off x="11211045" y="3136969"/>
            <a:ext cx="11421234" cy="8780073"/>
          </a:xfrm>
          <a:custGeom>
            <a:avLst/>
            <a:gdLst/>
            <a:ahLst/>
            <a:cxnLst/>
            <a:rect r="r" b="b" t="t" l="l"/>
            <a:pathLst>
              <a:path h="8780073" w="11421234">
                <a:moveTo>
                  <a:pt x="0" y="0"/>
                </a:moveTo>
                <a:lnTo>
                  <a:pt x="11421234" y="0"/>
                </a:lnTo>
                <a:lnTo>
                  <a:pt x="11421234" y="8780073"/>
                </a:lnTo>
                <a:lnTo>
                  <a:pt x="0" y="8780073"/>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DAGfvL0Pf3Y</dc:identifier>
  <dcterms:modified xsi:type="dcterms:W3CDTF">2011-08-01T06:04:30Z</dcterms:modified>
  <cp:revision>1</cp:revision>
  <dc:title>Multiclass Classification of Neurodegenerative Diseases</dc:title>
</cp:coreProperties>
</file>